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ormorant Garamond Bold" pitchFamily="2" charset="0"/>
      <p:regular r:id="rId16"/>
    </p:embeddedFont>
    <p:embeddedFont>
      <p:font typeface="Overpass" pitchFamily="2" charset="0"/>
      <p:regular r:id="rId17"/>
    </p:embeddedFont>
    <p:embeddedFont>
      <p:font typeface="Overpass Light" pitchFamily="2" charset="0"/>
      <p:regular r:id="rId18"/>
    </p:embeddedFont>
    <p:embeddedFont>
      <p:font typeface="Overpass Ultra-Bold"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3.fntdata"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2.fntdata" /><Relationship Id="rId2" Type="http://schemas.openxmlformats.org/officeDocument/2006/relationships/slide" Target="slides/slide1.xml" /><Relationship Id="rId16" Type="http://schemas.openxmlformats.org/officeDocument/2006/relationships/font" Target="fonts/font1.fntdata"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font" Target="fonts/font4.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5" Type="http://schemas.openxmlformats.org/officeDocument/2006/relationships/image" Target="../media/image4.png"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image" Target="../media/image11.png" /><Relationship Id="rId1" Type="http://schemas.openxmlformats.org/officeDocument/2006/relationships/slideLayout" Target="../slideLayouts/slideLayout7.xml" /><Relationship Id="rId4" Type="http://schemas.openxmlformats.org/officeDocument/2006/relationships/image" Target="../media/image12.png" /></Relationships>
</file>

<file path=ppt/slides/_rels/slide1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Hetvi4321/Financial-Fraud-Detection" TargetMode="Externa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672463" y="5034406"/>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TextBox 9"/>
          <p:cNvSpPr txBox="1"/>
          <p:nvPr/>
        </p:nvSpPr>
        <p:spPr>
          <a:xfrm>
            <a:off x="1028700" y="3579907"/>
            <a:ext cx="11716860" cy="2343150"/>
          </a:xfrm>
          <a:prstGeom prst="rect">
            <a:avLst/>
          </a:prstGeom>
        </p:spPr>
        <p:txBody>
          <a:bodyPr lIns="0" tIns="0" rIns="0" bIns="0" rtlCol="0" anchor="t">
            <a:spAutoFit/>
          </a:bodyPr>
          <a:lstStyle/>
          <a:p>
            <a:pPr algn="l">
              <a:lnSpc>
                <a:spcPts val="9000"/>
              </a:lnSpc>
            </a:pPr>
            <a:r>
              <a:rPr lang="en-US" sz="9000" b="1">
                <a:solidFill>
                  <a:srgbClr val="1A1B18"/>
                </a:solidFill>
                <a:latin typeface="Cormorant Garamond Bold"/>
                <a:ea typeface="Cormorant Garamond Bold"/>
                <a:cs typeface="Cormorant Garamond Bold"/>
                <a:sym typeface="Cormorant Garamond Bold"/>
              </a:rPr>
              <a:t>FINANCIAL FRAUD DETECTION</a:t>
            </a:r>
          </a:p>
        </p:txBody>
      </p:sp>
      <p:sp>
        <p:nvSpPr>
          <p:cNvPr id="10" name="AutoShape 10"/>
          <p:cNvSpPr/>
          <p:nvPr/>
        </p:nvSpPr>
        <p:spPr>
          <a:xfrm>
            <a:off x="1028700" y="5937345"/>
            <a:ext cx="16230600" cy="0"/>
          </a:xfrm>
          <a:prstGeom prst="line">
            <a:avLst/>
          </a:prstGeom>
          <a:ln w="28575" cap="flat">
            <a:solidFill>
              <a:srgbClr val="CDA63C"/>
            </a:solidFill>
            <a:prstDash val="solid"/>
            <a:headEnd type="none" w="sm" len="sm"/>
            <a:tailEnd type="none" w="sm" len="sm"/>
          </a:ln>
        </p:spPr>
      </p:sp>
      <p:sp>
        <p:nvSpPr>
          <p:cNvPr id="11" name="TextBox 11"/>
          <p:cNvSpPr txBox="1"/>
          <p:nvPr/>
        </p:nvSpPr>
        <p:spPr>
          <a:xfrm>
            <a:off x="1028700" y="6307645"/>
            <a:ext cx="9797483" cy="2670050"/>
          </a:xfrm>
          <a:prstGeom prst="rect">
            <a:avLst/>
          </a:prstGeom>
        </p:spPr>
        <p:txBody>
          <a:bodyPr lIns="0" tIns="0" rIns="0" bIns="0" rtlCol="0" anchor="t">
            <a:spAutoFit/>
          </a:bodyPr>
          <a:lstStyle/>
          <a:p>
            <a:pPr algn="l">
              <a:lnSpc>
                <a:spcPts val="3499"/>
              </a:lnSpc>
            </a:pPr>
            <a:r>
              <a:rPr lang="en-US" sz="2499" b="1">
                <a:solidFill>
                  <a:srgbClr val="1A1B18"/>
                </a:solidFill>
                <a:latin typeface="Overpass Ultra-Bold"/>
                <a:ea typeface="Overpass Ultra-Bold"/>
                <a:cs typeface="Overpass Ultra-Bold"/>
                <a:sym typeface="Overpass Ultra-Bold"/>
              </a:rPr>
              <a:t>TEAM MEMBERS:</a:t>
            </a:r>
          </a:p>
          <a:p>
            <a:pPr algn="l">
              <a:lnSpc>
                <a:spcPts val="3499"/>
              </a:lnSpc>
            </a:pPr>
            <a:r>
              <a:rPr lang="en-US" sz="2499">
                <a:solidFill>
                  <a:srgbClr val="1A1B18"/>
                </a:solidFill>
                <a:latin typeface="Overpass Light"/>
                <a:ea typeface="Overpass Light"/>
                <a:cs typeface="Overpass Light"/>
                <a:sym typeface="Overpass Light"/>
              </a:rPr>
              <a:t>Srilatha Challa - U23CS123</a:t>
            </a:r>
          </a:p>
          <a:p>
            <a:pPr algn="l">
              <a:lnSpc>
                <a:spcPts val="3499"/>
              </a:lnSpc>
            </a:pPr>
            <a:r>
              <a:rPr lang="en-US" sz="2499">
                <a:solidFill>
                  <a:srgbClr val="1A1B18"/>
                </a:solidFill>
                <a:latin typeface="Overpass Light"/>
                <a:ea typeface="Overpass Light"/>
                <a:cs typeface="Overpass Light"/>
                <a:sym typeface="Overpass Light"/>
              </a:rPr>
              <a:t>Hetvi Shah - U23CS093</a:t>
            </a:r>
          </a:p>
          <a:p>
            <a:pPr algn="l">
              <a:lnSpc>
                <a:spcPts val="3499"/>
              </a:lnSpc>
            </a:pPr>
            <a:r>
              <a:rPr lang="en-US" sz="2499">
                <a:solidFill>
                  <a:srgbClr val="1A1B18"/>
                </a:solidFill>
                <a:latin typeface="Overpass Light"/>
                <a:ea typeface="Overpass Light"/>
                <a:cs typeface="Overpass Light"/>
                <a:sym typeface="Overpass Light"/>
              </a:rPr>
              <a:t>Himavarsha Kadivendi - U23CS128</a:t>
            </a:r>
          </a:p>
          <a:p>
            <a:pPr algn="l">
              <a:lnSpc>
                <a:spcPts val="3499"/>
              </a:lnSpc>
            </a:pPr>
            <a:r>
              <a:rPr lang="en-US" sz="2499">
                <a:solidFill>
                  <a:srgbClr val="1A1B18"/>
                </a:solidFill>
                <a:latin typeface="Overpass Light"/>
                <a:ea typeface="Overpass Light"/>
                <a:cs typeface="Overpass Light"/>
                <a:sym typeface="Overpass Light"/>
              </a:rPr>
              <a:t>Rushika Vaja - U23CS108</a:t>
            </a:r>
          </a:p>
          <a:p>
            <a:pPr algn="l">
              <a:lnSpc>
                <a:spcPts val="3499"/>
              </a:lnSpc>
              <a:spcBef>
                <a:spcPct val="0"/>
              </a:spcBef>
            </a:pPr>
            <a:r>
              <a:rPr lang="en-US" sz="2499">
                <a:solidFill>
                  <a:srgbClr val="1A1B18"/>
                </a:solidFill>
                <a:latin typeface="Overpass Light"/>
                <a:ea typeface="Overpass Light"/>
                <a:cs typeface="Overpass Light"/>
                <a:sym typeface="Overpass Light"/>
              </a:rPr>
              <a:t>Eva Balabantaray - U23CS149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1694355" y="815837"/>
            <a:ext cx="9838754" cy="2025021"/>
          </a:xfrm>
          <a:prstGeom prst="rect">
            <a:avLst/>
          </a:prstGeom>
        </p:spPr>
        <p:txBody>
          <a:bodyPr lIns="0" tIns="0" rIns="0" bIns="0" rtlCol="0" anchor="t">
            <a:spAutoFit/>
          </a:bodyPr>
          <a:lstStyle/>
          <a:p>
            <a:pPr algn="l">
              <a:lnSpc>
                <a:spcPts val="7920"/>
              </a:lnSpc>
            </a:pPr>
            <a:r>
              <a:rPr lang="en-US" sz="7200" b="1">
                <a:solidFill>
                  <a:srgbClr val="1A1B18"/>
                </a:solidFill>
                <a:latin typeface="Cormorant Garamond Bold"/>
                <a:ea typeface="Cormorant Garamond Bold"/>
                <a:cs typeface="Cormorant Garamond Bold"/>
                <a:sym typeface="Cormorant Garamond Bold"/>
              </a:rPr>
              <a:t>PROBLEM STATEMENT &amp; MOTIVATION</a:t>
            </a:r>
          </a:p>
        </p:txBody>
      </p:sp>
      <p:grpSp>
        <p:nvGrpSpPr>
          <p:cNvPr id="3" name="Group 3"/>
          <p:cNvGrpSpPr/>
          <p:nvPr/>
        </p:nvGrpSpPr>
        <p:grpSpPr>
          <a:xfrm>
            <a:off x="16303815" y="1113728"/>
            <a:ext cx="955485" cy="218188"/>
            <a:chOff x="0" y="0"/>
            <a:chExt cx="1273980" cy="290918"/>
          </a:xfrm>
        </p:grpSpPr>
        <p:grpSp>
          <p:nvGrpSpPr>
            <p:cNvPr id="4" name="Group 4"/>
            <p:cNvGrpSpPr>
              <a:grpSpLocks noChangeAspect="1"/>
            </p:cNvGrpSpPr>
            <p:nvPr/>
          </p:nvGrpSpPr>
          <p:grpSpPr>
            <a:xfrm>
              <a:off x="983062" y="0"/>
              <a:ext cx="290918" cy="290918"/>
              <a:chOff x="0" y="0"/>
              <a:chExt cx="1708150" cy="1708150"/>
            </a:xfrm>
          </p:grpSpPr>
          <p:sp>
            <p:nvSpPr>
              <p:cNvPr id="5" name="Freeform 5"/>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6" name="Group 6"/>
            <p:cNvGrpSpPr>
              <a:grpSpLocks noChangeAspect="1"/>
            </p:cNvGrpSpPr>
            <p:nvPr/>
          </p:nvGrpSpPr>
          <p:grpSpPr>
            <a:xfrm>
              <a:off x="0" y="0"/>
              <a:ext cx="290918" cy="290918"/>
              <a:chOff x="0" y="0"/>
              <a:chExt cx="1708150" cy="1708150"/>
            </a:xfrm>
          </p:grpSpPr>
          <p:sp>
            <p:nvSpPr>
              <p:cNvPr id="7" name="Freeform 7"/>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8" name="Group 8"/>
            <p:cNvGrpSpPr/>
            <p:nvPr/>
          </p:nvGrpSpPr>
          <p:grpSpPr>
            <a:xfrm>
              <a:off x="493118" y="1587"/>
              <a:ext cx="287744" cy="287744"/>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grpSp>
        <p:nvGrpSpPr>
          <p:cNvPr id="10" name="Group 10"/>
          <p:cNvGrpSpPr/>
          <p:nvPr/>
        </p:nvGrpSpPr>
        <p:grpSpPr>
          <a:xfrm>
            <a:off x="3074315" y="5841503"/>
            <a:ext cx="11268069" cy="3143034"/>
            <a:chOff x="0" y="0"/>
            <a:chExt cx="8500793" cy="2371150"/>
          </a:xfrm>
        </p:grpSpPr>
        <p:sp>
          <p:nvSpPr>
            <p:cNvPr id="11" name="Freeform 11"/>
            <p:cNvSpPr/>
            <p:nvPr/>
          </p:nvSpPr>
          <p:spPr>
            <a:xfrm>
              <a:off x="0" y="0"/>
              <a:ext cx="8500793" cy="2371150"/>
            </a:xfrm>
            <a:custGeom>
              <a:avLst/>
              <a:gdLst/>
              <a:ahLst/>
              <a:cxnLst/>
              <a:rect l="l" t="t" r="r" b="b"/>
              <a:pathLst>
                <a:path w="8500793" h="2371150">
                  <a:moveTo>
                    <a:pt x="0" y="0"/>
                  </a:moveTo>
                  <a:lnTo>
                    <a:pt x="8500793" y="0"/>
                  </a:lnTo>
                  <a:lnTo>
                    <a:pt x="8500793" y="2371150"/>
                  </a:lnTo>
                  <a:lnTo>
                    <a:pt x="0" y="2371150"/>
                  </a:lnTo>
                  <a:close/>
                </a:path>
              </a:pathLst>
            </a:custGeom>
            <a:solidFill>
              <a:srgbClr val="EBE7E0"/>
            </a:solidFill>
            <a:ln cap="sq">
              <a:noFill/>
              <a:prstDash val="sysDot"/>
              <a:miter/>
            </a:ln>
          </p:spPr>
        </p:sp>
        <p:sp>
          <p:nvSpPr>
            <p:cNvPr id="12" name="TextBox 12"/>
            <p:cNvSpPr txBox="1"/>
            <p:nvPr/>
          </p:nvSpPr>
          <p:spPr>
            <a:xfrm>
              <a:off x="0" y="-95250"/>
              <a:ext cx="8500793" cy="2466400"/>
            </a:xfrm>
            <a:prstGeom prst="rect">
              <a:avLst/>
            </a:prstGeom>
          </p:spPr>
          <p:txBody>
            <a:bodyPr lIns="254000" tIns="254000" rIns="254000" bIns="254000" rtlCol="0" anchor="ctr"/>
            <a:lstStyle/>
            <a:p>
              <a:pPr algn="l">
                <a:lnSpc>
                  <a:spcPts val="3079"/>
                </a:lnSpc>
              </a:pPr>
              <a:r>
                <a:rPr lang="en-US" sz="2199">
                  <a:solidFill>
                    <a:srgbClr val="1A1B18"/>
                  </a:solidFill>
                  <a:latin typeface="Overpass Light"/>
                  <a:ea typeface="Overpass Light"/>
                  <a:cs typeface="Overpass Light"/>
                  <a:sym typeface="Overpass Light"/>
                </a:rPr>
                <a:t>Financial fraud is a growing concern in today’s digital world, leading to significant financial losses and security risks. With the increasing number of online transactions, it becomes difficult to manually detect fraudulent activities. This project is motivated by the need for an automated and efficient system that can identify suspicious transactions in real time. By applying machine learning techniques, we aim to improve fraud detection accuracy and reduce the chances of financial loss.</a:t>
              </a:r>
            </a:p>
          </p:txBody>
        </p:sp>
      </p:grpSp>
      <p:sp>
        <p:nvSpPr>
          <p:cNvPr id="13" name="AutoShape 13"/>
          <p:cNvSpPr/>
          <p:nvPr/>
        </p:nvSpPr>
        <p:spPr>
          <a:xfrm>
            <a:off x="1299398" y="1028700"/>
            <a:ext cx="0" cy="8229600"/>
          </a:xfrm>
          <a:prstGeom prst="line">
            <a:avLst/>
          </a:prstGeom>
          <a:ln w="28575" cap="flat">
            <a:solidFill>
              <a:srgbClr val="CDA63C"/>
            </a:solidFill>
            <a:prstDash val="solid"/>
            <a:headEnd type="none" w="sm" len="sm"/>
            <a:tailEnd type="none" w="sm" len="sm"/>
          </a:ln>
        </p:spPr>
      </p:sp>
      <p:sp>
        <p:nvSpPr>
          <p:cNvPr id="14" name="TextBox 14"/>
          <p:cNvSpPr txBox="1"/>
          <p:nvPr/>
        </p:nvSpPr>
        <p:spPr>
          <a:xfrm>
            <a:off x="1299398" y="3286392"/>
            <a:ext cx="16217092" cy="1160676"/>
          </a:xfrm>
          <a:prstGeom prst="rect">
            <a:avLst/>
          </a:prstGeom>
        </p:spPr>
        <p:txBody>
          <a:bodyPr lIns="0" tIns="0" rIns="0" bIns="0" rtlCol="0" anchor="t">
            <a:spAutoFit/>
          </a:bodyPr>
          <a:lstStyle/>
          <a:p>
            <a:pPr algn="ctr">
              <a:lnSpc>
                <a:spcPts val="4322"/>
              </a:lnSpc>
              <a:spcBef>
                <a:spcPct val="0"/>
              </a:spcBef>
            </a:pPr>
            <a:r>
              <a:rPr lang="en-US" sz="3324" spc="-49">
                <a:solidFill>
                  <a:srgbClr val="1A1B18"/>
                </a:solidFill>
                <a:latin typeface="Overpass"/>
                <a:ea typeface="Overpass"/>
                <a:cs typeface="Overpass"/>
                <a:sym typeface="Overpass"/>
              </a:rPr>
              <a:t>Digital financial transactions are vulnerable to fraud.Machine learning techniques can identify unusual patterns and detect fraudulent activities in transaction data. </a:t>
            </a:r>
          </a:p>
        </p:txBody>
      </p:sp>
      <p:sp>
        <p:nvSpPr>
          <p:cNvPr id="15" name="TextBox 15"/>
          <p:cNvSpPr txBox="1"/>
          <p:nvPr/>
        </p:nvSpPr>
        <p:spPr>
          <a:xfrm>
            <a:off x="1479752" y="4769347"/>
            <a:ext cx="16217092" cy="624481"/>
          </a:xfrm>
          <a:prstGeom prst="rect">
            <a:avLst/>
          </a:prstGeom>
        </p:spPr>
        <p:txBody>
          <a:bodyPr lIns="0" tIns="0" rIns="0" bIns="0" rtlCol="0" anchor="t">
            <a:spAutoFit/>
          </a:bodyPr>
          <a:lstStyle/>
          <a:p>
            <a:pPr algn="ctr">
              <a:lnSpc>
                <a:spcPts val="4322"/>
              </a:lnSpc>
              <a:spcBef>
                <a:spcPct val="0"/>
              </a:spcBef>
            </a:pPr>
            <a:r>
              <a:rPr lang="en-US" sz="3324" b="1" spc="-49">
                <a:solidFill>
                  <a:srgbClr val="1A1B18"/>
                </a:solidFill>
                <a:latin typeface="Overpass Ultra-Bold"/>
                <a:ea typeface="Overpass Ultra-Bold"/>
                <a:cs typeface="Overpass Ultra-Bold"/>
                <a:sym typeface="Overpass Ultra-Bold"/>
              </a:rPr>
              <a:t>Objective:</a:t>
            </a:r>
            <a:r>
              <a:rPr lang="en-US" sz="3324" spc="-49">
                <a:solidFill>
                  <a:srgbClr val="1A1B18"/>
                </a:solidFill>
                <a:latin typeface="Overpass"/>
                <a:ea typeface="Overpass"/>
                <a:cs typeface="Overpass"/>
                <a:sym typeface="Overpass"/>
              </a:rPr>
              <a:t> Detect fraudulent transactions and evaluate different detection approaches.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396975" y="1161320"/>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TextBox 9"/>
          <p:cNvSpPr txBox="1"/>
          <p:nvPr/>
        </p:nvSpPr>
        <p:spPr>
          <a:xfrm>
            <a:off x="1028700" y="634600"/>
            <a:ext cx="11738426" cy="1357354"/>
          </a:xfrm>
          <a:prstGeom prst="rect">
            <a:avLst/>
          </a:prstGeom>
        </p:spPr>
        <p:txBody>
          <a:bodyPr lIns="0" tIns="0" rIns="0" bIns="0" rtlCol="0" anchor="t">
            <a:spAutoFit/>
          </a:bodyPr>
          <a:lstStyle/>
          <a:p>
            <a:pPr algn="l">
              <a:lnSpc>
                <a:spcPts val="10450"/>
              </a:lnSpc>
            </a:pPr>
            <a:r>
              <a:rPr lang="en-US" sz="9500" b="1">
                <a:solidFill>
                  <a:srgbClr val="1A1B18"/>
                </a:solidFill>
                <a:latin typeface="Cormorant Garamond Bold"/>
                <a:ea typeface="Cormorant Garamond Bold"/>
                <a:cs typeface="Cormorant Garamond Bold"/>
                <a:sym typeface="Cormorant Garamond Bold"/>
              </a:rPr>
              <a:t>DATA DESCRIPTION</a:t>
            </a:r>
          </a:p>
        </p:txBody>
      </p:sp>
      <p:sp>
        <p:nvSpPr>
          <p:cNvPr id="10" name="TextBox 10"/>
          <p:cNvSpPr txBox="1"/>
          <p:nvPr/>
        </p:nvSpPr>
        <p:spPr>
          <a:xfrm>
            <a:off x="1538236" y="2483431"/>
            <a:ext cx="14297445" cy="6774869"/>
          </a:xfrm>
          <a:prstGeom prst="rect">
            <a:avLst/>
          </a:prstGeom>
        </p:spPr>
        <p:txBody>
          <a:bodyPr lIns="0" tIns="0" rIns="0" bIns="0" rtlCol="0" anchor="t">
            <a:spAutoFit/>
          </a:bodyPr>
          <a:lstStyle/>
          <a:p>
            <a:pPr algn="l">
              <a:lnSpc>
                <a:spcPts val="3570"/>
              </a:lnSpc>
              <a:spcBef>
                <a:spcPct val="0"/>
              </a:spcBef>
            </a:pPr>
            <a:r>
              <a:rPr lang="en-US" sz="2746" b="1" spc="-41">
                <a:solidFill>
                  <a:srgbClr val="1A1B18"/>
                </a:solidFill>
                <a:latin typeface="Overpass Ultra-Bold"/>
                <a:ea typeface="Overpass Ultra-Bold"/>
                <a:cs typeface="Overpass Ultra-Bold"/>
                <a:sym typeface="Overpass Ultra-Bold"/>
              </a:rPr>
              <a:t>DATA SOURCE: </a:t>
            </a:r>
            <a:r>
              <a:rPr lang="en-US" sz="2746" spc="-41">
                <a:solidFill>
                  <a:srgbClr val="1A1B18"/>
                </a:solidFill>
                <a:latin typeface="Overpass"/>
                <a:ea typeface="Overpass"/>
                <a:cs typeface="Overpass"/>
                <a:sym typeface="Overpass"/>
              </a:rPr>
              <a:t>Credit Card Fraud Detection Dataset (Kaggle)</a:t>
            </a:r>
          </a:p>
          <a:p>
            <a:pPr algn="l">
              <a:lnSpc>
                <a:spcPts val="3570"/>
              </a:lnSpc>
              <a:spcBef>
                <a:spcPct val="0"/>
              </a:spcBef>
            </a:pPr>
            <a:endParaRPr lang="en-US" sz="2746" spc="-41">
              <a:solidFill>
                <a:srgbClr val="1A1B18"/>
              </a:solidFill>
              <a:latin typeface="Overpass"/>
              <a:ea typeface="Overpass"/>
              <a:cs typeface="Overpass"/>
              <a:sym typeface="Overpass"/>
            </a:endParaRPr>
          </a:p>
          <a:p>
            <a:pPr algn="l">
              <a:lnSpc>
                <a:spcPts val="3570"/>
              </a:lnSpc>
              <a:spcBef>
                <a:spcPct val="0"/>
              </a:spcBef>
            </a:pPr>
            <a:r>
              <a:rPr lang="en-US" sz="2746" b="1" spc="-41">
                <a:solidFill>
                  <a:srgbClr val="1A1B18"/>
                </a:solidFill>
                <a:latin typeface="Overpass Ultra-Bold"/>
                <a:ea typeface="Overpass Ultra-Bold"/>
                <a:cs typeface="Overpass Ultra-Bold"/>
                <a:sym typeface="Overpass Ultra-Bold"/>
              </a:rPr>
              <a:t>Features:</a:t>
            </a:r>
          </a:p>
          <a:p>
            <a:pPr algn="l">
              <a:lnSpc>
                <a:spcPts val="3570"/>
              </a:lnSpc>
              <a:spcBef>
                <a:spcPct val="0"/>
              </a:spcBef>
            </a:pPr>
            <a:endParaRPr lang="en-US" sz="2746" b="1" spc="-41">
              <a:solidFill>
                <a:srgbClr val="1A1B18"/>
              </a:solidFill>
              <a:latin typeface="Overpass Ultra-Bold"/>
              <a:ea typeface="Overpass Ultra-Bold"/>
              <a:cs typeface="Overpass Ultra-Bold"/>
              <a:sym typeface="Overpass Ultra-Bold"/>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30 features: Time, Amount, V1–V28 (PCA transformed)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Target variable: Class (0 = Normal, 1 = Fraud)</a:t>
            </a:r>
          </a:p>
          <a:p>
            <a:pPr algn="l">
              <a:lnSpc>
                <a:spcPts val="3570"/>
              </a:lnSpc>
              <a:spcBef>
                <a:spcPct val="0"/>
              </a:spcBef>
            </a:pPr>
            <a:endParaRPr lang="en-US" sz="2746" spc="-41">
              <a:solidFill>
                <a:srgbClr val="1A1B18"/>
              </a:solidFill>
              <a:latin typeface="Overpass"/>
              <a:ea typeface="Overpass"/>
              <a:cs typeface="Overpass"/>
              <a:sym typeface="Overpass"/>
            </a:endParaRPr>
          </a:p>
          <a:p>
            <a:pPr algn="l">
              <a:lnSpc>
                <a:spcPts val="3570"/>
              </a:lnSpc>
            </a:pPr>
            <a:r>
              <a:rPr lang="en-US" sz="2746" b="1" spc="-41">
                <a:solidFill>
                  <a:srgbClr val="1A1B18"/>
                </a:solidFill>
                <a:latin typeface="Overpass Ultra-Bold"/>
                <a:ea typeface="Overpass Ultra-Bold"/>
                <a:cs typeface="Overpass Ultra-Bold"/>
                <a:sym typeface="Overpass Ultra-Bold"/>
              </a:rPr>
              <a:t>Initial Analysis:</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No missing values found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Dataset is highly imbalanced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Fraud cases are very rare (~0.17%)</a:t>
            </a:r>
          </a:p>
          <a:p>
            <a:pPr algn="l">
              <a:lnSpc>
                <a:spcPts val="3570"/>
              </a:lnSpc>
              <a:spcBef>
                <a:spcPct val="0"/>
              </a:spcBef>
            </a:pPr>
            <a:endParaRPr lang="en-US" sz="2746" spc="-41">
              <a:solidFill>
                <a:srgbClr val="1A1B18"/>
              </a:solidFill>
              <a:latin typeface="Overpass"/>
              <a:ea typeface="Overpass"/>
              <a:cs typeface="Overpass"/>
              <a:sym typeface="Overpass"/>
            </a:endParaRPr>
          </a:p>
          <a:p>
            <a:pPr algn="l">
              <a:lnSpc>
                <a:spcPts val="3570"/>
              </a:lnSpc>
              <a:spcBef>
                <a:spcPct val="0"/>
              </a:spcBef>
            </a:pPr>
            <a:r>
              <a:rPr lang="en-US" sz="2746" b="1" spc="-41">
                <a:solidFill>
                  <a:srgbClr val="1A1B18"/>
                </a:solidFill>
                <a:latin typeface="Overpass Ultra-Bold"/>
                <a:ea typeface="Overpass Ultra-Bold"/>
                <a:cs typeface="Overpass Ultra-Bold"/>
                <a:sym typeface="Overpass Ultra-Bold"/>
              </a:rPr>
              <a:t>Key Insight:</a:t>
            </a:r>
          </a:p>
          <a:p>
            <a:pPr algn="l">
              <a:lnSpc>
                <a:spcPts val="3570"/>
              </a:lnSpc>
              <a:spcBef>
                <a:spcPct val="0"/>
              </a:spcBef>
            </a:pPr>
            <a:endParaRPr lang="en-US" sz="2746" b="1" spc="-41">
              <a:solidFill>
                <a:srgbClr val="1A1B18"/>
              </a:solidFill>
              <a:latin typeface="Overpass Ultra-Bold"/>
              <a:ea typeface="Overpass Ultra-Bold"/>
              <a:cs typeface="Overpass Ultra-Bold"/>
              <a:sym typeface="Overpass Ultra-Bold"/>
            </a:endParaRPr>
          </a:p>
          <a:p>
            <a:pPr algn="l">
              <a:lnSpc>
                <a:spcPts val="3570"/>
              </a:lnSpc>
              <a:spcBef>
                <a:spcPct val="0"/>
              </a:spcBef>
            </a:pPr>
            <a:r>
              <a:rPr lang="en-US" sz="2746" spc="-41">
                <a:solidFill>
                  <a:srgbClr val="1A1B18"/>
                </a:solidFill>
                <a:latin typeface="Overpass"/>
                <a:ea typeface="Overpass"/>
                <a:cs typeface="Overpass"/>
                <a:sym typeface="Overpass"/>
              </a:rPr>
              <a:t>        Requires careful handling using precision-recall metrics instead of accuracy text</a:t>
            </a:r>
          </a:p>
        </p:txBody>
      </p:sp>
      <p:sp>
        <p:nvSpPr>
          <p:cNvPr id="11" name="AutoShape 11"/>
          <p:cNvSpPr/>
          <p:nvPr/>
        </p:nvSpPr>
        <p:spPr>
          <a:xfrm>
            <a:off x="1028700" y="1977666"/>
            <a:ext cx="16230600" cy="0"/>
          </a:xfrm>
          <a:prstGeom prst="line">
            <a:avLst/>
          </a:prstGeom>
          <a:ln w="28575" cap="flat">
            <a:solidFill>
              <a:srgbClr val="CDA63C"/>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sp>
        <p:nvSpPr>
          <p:cNvPr id="2" name="TextBox 2"/>
          <p:cNvSpPr txBox="1"/>
          <p:nvPr/>
        </p:nvSpPr>
        <p:spPr>
          <a:xfrm>
            <a:off x="693254" y="583302"/>
            <a:ext cx="14785847" cy="1357354"/>
          </a:xfrm>
          <a:prstGeom prst="rect">
            <a:avLst/>
          </a:prstGeom>
        </p:spPr>
        <p:txBody>
          <a:bodyPr lIns="0" tIns="0" rIns="0" bIns="0" rtlCol="0" anchor="t">
            <a:spAutoFit/>
          </a:bodyPr>
          <a:lstStyle/>
          <a:p>
            <a:pPr algn="l">
              <a:lnSpc>
                <a:spcPts val="10450"/>
              </a:lnSpc>
            </a:pPr>
            <a:r>
              <a:rPr lang="en-US" sz="9500" b="1">
                <a:solidFill>
                  <a:srgbClr val="1A1B18"/>
                </a:solidFill>
                <a:latin typeface="Cormorant Garamond Bold"/>
                <a:ea typeface="Cormorant Garamond Bold"/>
                <a:cs typeface="Cormorant Garamond Bold"/>
                <a:sym typeface="Cormorant Garamond Bold"/>
              </a:rPr>
              <a:t>DATA PREPROCESSING</a:t>
            </a:r>
          </a:p>
        </p:txBody>
      </p:sp>
      <p:grpSp>
        <p:nvGrpSpPr>
          <p:cNvPr id="3" name="Group 3"/>
          <p:cNvGrpSpPr/>
          <p:nvPr/>
        </p:nvGrpSpPr>
        <p:grpSpPr>
          <a:xfrm rot="5400000">
            <a:off x="16672463" y="8671463"/>
            <a:ext cx="955485" cy="218188"/>
            <a:chOff x="0" y="0"/>
            <a:chExt cx="1273980" cy="290918"/>
          </a:xfrm>
        </p:grpSpPr>
        <p:grpSp>
          <p:nvGrpSpPr>
            <p:cNvPr id="4" name="Group 4"/>
            <p:cNvGrpSpPr>
              <a:grpSpLocks noChangeAspect="1"/>
            </p:cNvGrpSpPr>
            <p:nvPr/>
          </p:nvGrpSpPr>
          <p:grpSpPr>
            <a:xfrm>
              <a:off x="983062" y="0"/>
              <a:ext cx="290918" cy="290918"/>
              <a:chOff x="0" y="0"/>
              <a:chExt cx="1708150" cy="1708150"/>
            </a:xfrm>
          </p:grpSpPr>
          <p:sp>
            <p:nvSpPr>
              <p:cNvPr id="5" name="Freeform 5"/>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6" name="Group 6"/>
            <p:cNvGrpSpPr>
              <a:grpSpLocks noChangeAspect="1"/>
            </p:cNvGrpSpPr>
            <p:nvPr/>
          </p:nvGrpSpPr>
          <p:grpSpPr>
            <a:xfrm>
              <a:off x="489944" y="0"/>
              <a:ext cx="290918" cy="290918"/>
              <a:chOff x="0" y="0"/>
              <a:chExt cx="1708150" cy="1708150"/>
            </a:xfrm>
          </p:grpSpPr>
          <p:sp>
            <p:nvSpPr>
              <p:cNvPr id="7" name="Freeform 7"/>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8" name="Group 8"/>
            <p:cNvGrpSpPr/>
            <p:nvPr/>
          </p:nvGrpSpPr>
          <p:grpSpPr>
            <a:xfrm>
              <a:off x="0" y="1587"/>
              <a:ext cx="287744" cy="287744"/>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10" name="AutoShape 10"/>
          <p:cNvSpPr/>
          <p:nvPr/>
        </p:nvSpPr>
        <p:spPr>
          <a:xfrm>
            <a:off x="810512" y="1954943"/>
            <a:ext cx="16230600" cy="0"/>
          </a:xfrm>
          <a:prstGeom prst="line">
            <a:avLst/>
          </a:prstGeom>
          <a:ln w="28575" cap="flat">
            <a:solidFill>
              <a:srgbClr val="CDA63C"/>
            </a:solidFill>
            <a:prstDash val="solid"/>
            <a:headEnd type="none" w="sm" len="sm"/>
            <a:tailEnd type="none" w="sm" len="sm"/>
          </a:ln>
        </p:spPr>
      </p:sp>
      <p:sp>
        <p:nvSpPr>
          <p:cNvPr id="11" name="TextBox 11"/>
          <p:cNvSpPr txBox="1"/>
          <p:nvPr/>
        </p:nvSpPr>
        <p:spPr>
          <a:xfrm>
            <a:off x="810512" y="3125707"/>
            <a:ext cx="14297445" cy="6774869"/>
          </a:xfrm>
          <a:prstGeom prst="rect">
            <a:avLst/>
          </a:prstGeom>
        </p:spPr>
        <p:txBody>
          <a:bodyPr lIns="0" tIns="0" rIns="0" bIns="0" rtlCol="0" anchor="t">
            <a:spAutoFit/>
          </a:bodyPr>
          <a:lstStyle/>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Loaded dataset with </a:t>
            </a:r>
            <a:r>
              <a:rPr lang="en-US" sz="2746" b="1" spc="-41">
                <a:solidFill>
                  <a:srgbClr val="1A1B18"/>
                </a:solidFill>
                <a:latin typeface="Overpass Ultra-Bold"/>
                <a:ea typeface="Overpass Ultra-Bold"/>
                <a:cs typeface="Overpass Ultra-Bold"/>
                <a:sym typeface="Overpass Ultra-Bold"/>
              </a:rPr>
              <a:t>284,807 transactions and 31 features</a:t>
            </a:r>
          </a:p>
          <a:p>
            <a:pPr algn="l">
              <a:lnSpc>
                <a:spcPts val="3570"/>
              </a:lnSpc>
            </a:pPr>
            <a:endParaRPr lang="en-US" sz="2746" b="1" spc="-41">
              <a:solidFill>
                <a:srgbClr val="1A1B18"/>
              </a:solidFill>
              <a:latin typeface="Overpass Ultra-Bold"/>
              <a:ea typeface="Overpass Ultra-Bold"/>
              <a:cs typeface="Overpass Ultra-Bold"/>
              <a:sym typeface="Overpass Ultra-Bold"/>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Performed initial inspection (shape, info, null values)</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Found no missing values (all columns complete)</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Removed duplicate records to improve data quality</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Checked data types → all features are numeric (float64), target is int64</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Analysed outliers in the “Amount” column</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Outliers were retained as they may represent fraud cases</a:t>
            </a:r>
          </a:p>
          <a:p>
            <a:pPr algn="l">
              <a:lnSpc>
                <a:spcPts val="3570"/>
              </a:lnSpc>
            </a:pPr>
            <a:endParaRPr lang="en-US" sz="2746" spc="-41">
              <a:solidFill>
                <a:srgbClr val="1A1B18"/>
              </a:solidFill>
              <a:latin typeface="Overpass"/>
              <a:ea typeface="Overpass"/>
              <a:cs typeface="Overpass"/>
              <a:sym typeface="Overpass"/>
            </a:endParaRP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Final dataset is clean, consistent, and ready for EDA</a:t>
            </a:r>
          </a:p>
        </p:txBody>
      </p:sp>
      <p:sp>
        <p:nvSpPr>
          <p:cNvPr id="12" name="TextBox 12"/>
          <p:cNvSpPr txBox="1"/>
          <p:nvPr/>
        </p:nvSpPr>
        <p:spPr>
          <a:xfrm>
            <a:off x="0" y="2217543"/>
            <a:ext cx="12829873" cy="806131"/>
          </a:xfrm>
          <a:prstGeom prst="rect">
            <a:avLst/>
          </a:prstGeom>
        </p:spPr>
        <p:txBody>
          <a:bodyPr lIns="0" tIns="0" rIns="0" bIns="0" rtlCol="0" anchor="t">
            <a:spAutoFit/>
          </a:bodyPr>
          <a:lstStyle/>
          <a:p>
            <a:pPr algn="ctr">
              <a:lnSpc>
                <a:spcPts val="6293"/>
              </a:lnSpc>
              <a:spcBef>
                <a:spcPct val="0"/>
              </a:spcBef>
            </a:pPr>
            <a:r>
              <a:rPr lang="en-US" sz="5721" b="1">
                <a:solidFill>
                  <a:srgbClr val="734630"/>
                </a:solidFill>
                <a:latin typeface="Cormorant Garamond Bold"/>
                <a:ea typeface="Cormorant Garamond Bold"/>
                <a:cs typeface="Cormorant Garamond Bold"/>
                <a:sym typeface="Cormorant Garamond Bold"/>
              </a:rPr>
              <a:t>DATA CLEANING &amp; WHAT WE DID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810512" y="1954943"/>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693254" y="2401390"/>
            <a:ext cx="4931645" cy="2243899"/>
          </a:xfrm>
          <a:custGeom>
            <a:avLst/>
            <a:gdLst/>
            <a:ahLst/>
            <a:cxnLst/>
            <a:rect l="l" t="t" r="r" b="b"/>
            <a:pathLst>
              <a:path w="4931645" h="2243899">
                <a:moveTo>
                  <a:pt x="0" y="0"/>
                </a:moveTo>
                <a:lnTo>
                  <a:pt x="4931645" y="0"/>
                </a:lnTo>
                <a:lnTo>
                  <a:pt x="4931645" y="2243898"/>
                </a:lnTo>
                <a:lnTo>
                  <a:pt x="0" y="2243898"/>
                </a:lnTo>
                <a:lnTo>
                  <a:pt x="0" y="0"/>
                </a:lnTo>
                <a:close/>
              </a:path>
            </a:pathLst>
          </a:custGeom>
          <a:blipFill>
            <a:blip r:embed="rId2"/>
            <a:stretch>
              <a:fillRect/>
            </a:stretch>
          </a:blipFill>
        </p:spPr>
      </p:sp>
      <p:sp>
        <p:nvSpPr>
          <p:cNvPr id="11" name="Freeform 11"/>
          <p:cNvSpPr/>
          <p:nvPr/>
        </p:nvSpPr>
        <p:spPr>
          <a:xfrm>
            <a:off x="693254" y="4645288"/>
            <a:ext cx="4931645" cy="1631227"/>
          </a:xfrm>
          <a:custGeom>
            <a:avLst/>
            <a:gdLst/>
            <a:ahLst/>
            <a:cxnLst/>
            <a:rect l="l" t="t" r="r" b="b"/>
            <a:pathLst>
              <a:path w="4931645" h="1631227">
                <a:moveTo>
                  <a:pt x="0" y="0"/>
                </a:moveTo>
                <a:lnTo>
                  <a:pt x="4931645" y="0"/>
                </a:lnTo>
                <a:lnTo>
                  <a:pt x="4931645" y="1631228"/>
                </a:lnTo>
                <a:lnTo>
                  <a:pt x="0" y="1631228"/>
                </a:lnTo>
                <a:lnTo>
                  <a:pt x="0" y="0"/>
                </a:lnTo>
                <a:close/>
              </a:path>
            </a:pathLst>
          </a:custGeom>
          <a:blipFill>
            <a:blip r:embed="rId3"/>
            <a:stretch>
              <a:fillRect t="-639" b="-639"/>
            </a:stretch>
          </a:blipFill>
        </p:spPr>
      </p:sp>
      <p:sp>
        <p:nvSpPr>
          <p:cNvPr id="12" name="Freeform 12"/>
          <p:cNvSpPr/>
          <p:nvPr/>
        </p:nvSpPr>
        <p:spPr>
          <a:xfrm>
            <a:off x="6157745" y="2401390"/>
            <a:ext cx="5938890" cy="3875126"/>
          </a:xfrm>
          <a:custGeom>
            <a:avLst/>
            <a:gdLst/>
            <a:ahLst/>
            <a:cxnLst/>
            <a:rect l="l" t="t" r="r" b="b"/>
            <a:pathLst>
              <a:path w="5938890" h="3875126">
                <a:moveTo>
                  <a:pt x="0" y="0"/>
                </a:moveTo>
                <a:lnTo>
                  <a:pt x="5938891" y="0"/>
                </a:lnTo>
                <a:lnTo>
                  <a:pt x="5938891" y="3875126"/>
                </a:lnTo>
                <a:lnTo>
                  <a:pt x="0" y="3875126"/>
                </a:lnTo>
                <a:lnTo>
                  <a:pt x="0" y="0"/>
                </a:lnTo>
                <a:close/>
              </a:path>
            </a:pathLst>
          </a:custGeom>
          <a:blipFill>
            <a:blip r:embed="rId4"/>
            <a:stretch>
              <a:fillRect/>
            </a:stretch>
          </a:blipFill>
        </p:spPr>
      </p:sp>
      <p:sp>
        <p:nvSpPr>
          <p:cNvPr id="13" name="Freeform 13"/>
          <p:cNvSpPr/>
          <p:nvPr/>
        </p:nvSpPr>
        <p:spPr>
          <a:xfrm>
            <a:off x="12630036" y="2316961"/>
            <a:ext cx="5331423" cy="4043983"/>
          </a:xfrm>
          <a:custGeom>
            <a:avLst/>
            <a:gdLst/>
            <a:ahLst/>
            <a:cxnLst/>
            <a:rect l="l" t="t" r="r" b="b"/>
            <a:pathLst>
              <a:path w="5331423" h="4043983">
                <a:moveTo>
                  <a:pt x="0" y="0"/>
                </a:moveTo>
                <a:lnTo>
                  <a:pt x="5331423" y="0"/>
                </a:lnTo>
                <a:lnTo>
                  <a:pt x="5331423" y="4043983"/>
                </a:lnTo>
                <a:lnTo>
                  <a:pt x="0" y="4043983"/>
                </a:lnTo>
                <a:lnTo>
                  <a:pt x="0" y="0"/>
                </a:lnTo>
                <a:close/>
              </a:path>
            </a:pathLst>
          </a:custGeom>
          <a:blipFill>
            <a:blip r:embed="rId5"/>
            <a:stretch>
              <a:fillRect/>
            </a:stretch>
          </a:blipFill>
        </p:spPr>
      </p:sp>
      <p:sp>
        <p:nvSpPr>
          <p:cNvPr id="14" name="TextBox 14"/>
          <p:cNvSpPr txBox="1"/>
          <p:nvPr/>
        </p:nvSpPr>
        <p:spPr>
          <a:xfrm>
            <a:off x="693254" y="583302"/>
            <a:ext cx="14785847" cy="1357354"/>
          </a:xfrm>
          <a:prstGeom prst="rect">
            <a:avLst/>
          </a:prstGeom>
        </p:spPr>
        <p:txBody>
          <a:bodyPr lIns="0" tIns="0" rIns="0" bIns="0" rtlCol="0" anchor="t">
            <a:spAutoFit/>
          </a:bodyPr>
          <a:lstStyle/>
          <a:p>
            <a:pPr algn="l">
              <a:lnSpc>
                <a:spcPts val="10450"/>
              </a:lnSpc>
            </a:pPr>
            <a:r>
              <a:rPr lang="en-US" sz="9500" b="1">
                <a:solidFill>
                  <a:srgbClr val="1A1B18"/>
                </a:solidFill>
                <a:latin typeface="Cormorant Garamond Bold"/>
                <a:ea typeface="Cormorant Garamond Bold"/>
                <a:cs typeface="Cormorant Garamond Bold"/>
                <a:sym typeface="Cormorant Garamond Bold"/>
              </a:rPr>
              <a:t>EDA OBSERVATIONS</a:t>
            </a:r>
          </a:p>
        </p:txBody>
      </p:sp>
      <p:sp>
        <p:nvSpPr>
          <p:cNvPr id="15" name="TextBox 15"/>
          <p:cNvSpPr txBox="1"/>
          <p:nvPr/>
        </p:nvSpPr>
        <p:spPr>
          <a:xfrm>
            <a:off x="584500" y="6576106"/>
            <a:ext cx="5149153" cy="1726709"/>
          </a:xfrm>
          <a:prstGeom prst="rect">
            <a:avLst/>
          </a:prstGeom>
        </p:spPr>
        <p:txBody>
          <a:bodyPr lIns="0" tIns="0" rIns="0" bIns="0" rtlCol="0" anchor="t">
            <a:spAutoFit/>
          </a:bodyPr>
          <a:lstStyle/>
          <a:p>
            <a:pPr algn="l">
              <a:lnSpc>
                <a:spcPts val="2716"/>
              </a:lnSpc>
            </a:pPr>
            <a:r>
              <a:rPr lang="en-US" sz="2469" b="1">
                <a:solidFill>
                  <a:srgbClr val="1A1B18"/>
                </a:solidFill>
                <a:latin typeface="Cormorant Garamond Bold"/>
                <a:ea typeface="Cormorant Garamond Bold"/>
                <a:cs typeface="Cormorant Garamond Bold"/>
                <a:sym typeface="Cormorant Garamond Bold"/>
              </a:rPr>
              <a:t>Dataset is highly imbalanced:</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pPr>
            <a:r>
              <a:rPr lang="en-US" sz="2469" b="1">
                <a:solidFill>
                  <a:srgbClr val="1A1B18"/>
                </a:solidFill>
                <a:latin typeface="Cormorant Garamond Bold"/>
                <a:ea typeface="Cormorant Garamond Bold"/>
                <a:cs typeface="Cormorant Garamond Bold"/>
                <a:sym typeface="Cormorant Garamond Bold"/>
              </a:rPr>
              <a:t>Class 0 (Non-Fraud): ~284,315 (≈99.8%)</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spcBef>
                <a:spcPct val="0"/>
              </a:spcBef>
            </a:pPr>
            <a:r>
              <a:rPr lang="en-US" sz="2469" b="1">
                <a:solidFill>
                  <a:srgbClr val="1A1B18"/>
                </a:solidFill>
                <a:latin typeface="Cormorant Garamond Bold"/>
                <a:ea typeface="Cormorant Garamond Bold"/>
                <a:cs typeface="Cormorant Garamond Bold"/>
                <a:sym typeface="Cormorant Garamond Bold"/>
              </a:rPr>
              <a:t>Class 1 (Fraud): ~492 (≈0.2%)</a:t>
            </a:r>
          </a:p>
        </p:txBody>
      </p:sp>
      <p:sp>
        <p:nvSpPr>
          <p:cNvPr id="16" name="TextBox 16"/>
          <p:cNvSpPr txBox="1"/>
          <p:nvPr/>
        </p:nvSpPr>
        <p:spPr>
          <a:xfrm>
            <a:off x="6157745" y="6576106"/>
            <a:ext cx="5149153" cy="1726709"/>
          </a:xfrm>
          <a:prstGeom prst="rect">
            <a:avLst/>
          </a:prstGeom>
        </p:spPr>
        <p:txBody>
          <a:bodyPr lIns="0" tIns="0" rIns="0" bIns="0" rtlCol="0" anchor="t">
            <a:spAutoFit/>
          </a:bodyPr>
          <a:lstStyle/>
          <a:p>
            <a:pPr algn="l">
              <a:lnSpc>
                <a:spcPts val="2716"/>
              </a:lnSpc>
            </a:pPr>
            <a:r>
              <a:rPr lang="en-US" sz="2469" b="1">
                <a:solidFill>
                  <a:srgbClr val="1A1B18"/>
                </a:solidFill>
                <a:latin typeface="Cormorant Garamond Bold"/>
                <a:ea typeface="Cormorant Garamond Bold"/>
                <a:cs typeface="Cormorant Garamond Bold"/>
                <a:sym typeface="Cormorant Garamond Bold"/>
              </a:rPr>
              <a:t>Transaction amount analysis:</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pPr>
            <a:r>
              <a:rPr lang="en-US" sz="2469" b="1">
                <a:solidFill>
                  <a:srgbClr val="1A1B18"/>
                </a:solidFill>
                <a:latin typeface="Cormorant Garamond Bold"/>
                <a:ea typeface="Cormorant Garamond Bold"/>
                <a:cs typeface="Cormorant Garamond Bold"/>
                <a:sym typeface="Cormorant Garamond Bold"/>
              </a:rPr>
              <a:t>Most transactions are low value (&lt;100)</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spcBef>
                <a:spcPct val="0"/>
              </a:spcBef>
            </a:pPr>
            <a:r>
              <a:rPr lang="en-US" sz="2469" b="1">
                <a:solidFill>
                  <a:srgbClr val="1A1B18"/>
                </a:solidFill>
                <a:latin typeface="Cormorant Garamond Bold"/>
                <a:ea typeface="Cormorant Garamond Bold"/>
                <a:cs typeface="Cormorant Garamond Bold"/>
                <a:sym typeface="Cormorant Garamond Bold"/>
              </a:rPr>
              <a:t>Few high-value outliers (~25,000) present</a:t>
            </a:r>
          </a:p>
        </p:txBody>
      </p:sp>
      <p:sp>
        <p:nvSpPr>
          <p:cNvPr id="17" name="TextBox 17"/>
          <p:cNvSpPr txBox="1"/>
          <p:nvPr/>
        </p:nvSpPr>
        <p:spPr>
          <a:xfrm>
            <a:off x="12630036" y="6732419"/>
            <a:ext cx="5331423" cy="2755347"/>
          </a:xfrm>
          <a:prstGeom prst="rect">
            <a:avLst/>
          </a:prstGeom>
        </p:spPr>
        <p:txBody>
          <a:bodyPr lIns="0" tIns="0" rIns="0" bIns="0" rtlCol="0" anchor="t">
            <a:spAutoFit/>
          </a:bodyPr>
          <a:lstStyle/>
          <a:p>
            <a:pPr algn="l">
              <a:lnSpc>
                <a:spcPts val="2716"/>
              </a:lnSpc>
            </a:pPr>
            <a:r>
              <a:rPr lang="en-US" sz="2469" b="1">
                <a:solidFill>
                  <a:srgbClr val="1A1B18"/>
                </a:solidFill>
                <a:latin typeface="Cormorant Garamond Bold"/>
                <a:ea typeface="Cormorant Garamond Bold"/>
                <a:cs typeface="Cormorant Garamond Bold"/>
                <a:sym typeface="Cormorant Garamond Bold"/>
              </a:rPr>
              <a:t>Feature insights:</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pPr>
            <a:r>
              <a:rPr lang="en-US" sz="2469" b="1">
                <a:solidFill>
                  <a:srgbClr val="1A1B18"/>
                </a:solidFill>
                <a:latin typeface="Cormorant Garamond Bold"/>
                <a:ea typeface="Cormorant Garamond Bold"/>
                <a:cs typeface="Cormorant Garamond Bold"/>
                <a:sym typeface="Cormorant Garamond Bold"/>
              </a:rPr>
              <a:t>V1–V28 are PCA-transformed features</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pPr>
            <a:r>
              <a:rPr lang="en-US" sz="2469" b="1">
                <a:solidFill>
                  <a:srgbClr val="1A1B18"/>
                </a:solidFill>
                <a:latin typeface="Cormorant Garamond Bold"/>
                <a:ea typeface="Cormorant Garamond Bold"/>
                <a:cs typeface="Cormorant Garamond Bold"/>
                <a:sym typeface="Cormorant Garamond Bold"/>
              </a:rPr>
              <a:t>Some features show different patterns for fraud vs normal</a:t>
            </a:r>
          </a:p>
          <a:p>
            <a:pPr algn="l">
              <a:lnSpc>
                <a:spcPts val="2716"/>
              </a:lnSpc>
            </a:pPr>
            <a:endParaRPr lang="en-US" sz="2469" b="1">
              <a:solidFill>
                <a:srgbClr val="1A1B18"/>
              </a:solidFill>
              <a:latin typeface="Cormorant Garamond Bold"/>
              <a:ea typeface="Cormorant Garamond Bold"/>
              <a:cs typeface="Cormorant Garamond Bold"/>
              <a:sym typeface="Cormorant Garamond Bold"/>
            </a:endParaRPr>
          </a:p>
          <a:p>
            <a:pPr algn="l">
              <a:lnSpc>
                <a:spcPts val="2716"/>
              </a:lnSpc>
              <a:spcBef>
                <a:spcPct val="0"/>
              </a:spcBef>
            </a:pPr>
            <a:r>
              <a:rPr lang="en-US" sz="2469" b="1">
                <a:solidFill>
                  <a:srgbClr val="1A1B18"/>
                </a:solidFill>
                <a:latin typeface="Cormorant Garamond Bold"/>
                <a:ea typeface="Cormorant Garamond Bold"/>
                <a:cs typeface="Cormorant Garamond Bold"/>
                <a:sym typeface="Cormorant Garamond Bold"/>
              </a:rPr>
              <a:t>Correlation between features is mostly 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810512" y="1954943"/>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12450772" y="2083531"/>
            <a:ext cx="4808528" cy="3697826"/>
          </a:xfrm>
          <a:custGeom>
            <a:avLst/>
            <a:gdLst/>
            <a:ahLst/>
            <a:cxnLst/>
            <a:rect l="l" t="t" r="r" b="b"/>
            <a:pathLst>
              <a:path w="4808528" h="3697826">
                <a:moveTo>
                  <a:pt x="0" y="0"/>
                </a:moveTo>
                <a:lnTo>
                  <a:pt x="4808528" y="0"/>
                </a:lnTo>
                <a:lnTo>
                  <a:pt x="4808528" y="3697826"/>
                </a:lnTo>
                <a:lnTo>
                  <a:pt x="0" y="3697826"/>
                </a:lnTo>
                <a:lnTo>
                  <a:pt x="0" y="0"/>
                </a:lnTo>
                <a:close/>
              </a:path>
            </a:pathLst>
          </a:custGeom>
          <a:blipFill>
            <a:blip r:embed="rId2"/>
            <a:stretch>
              <a:fillRect/>
            </a:stretch>
          </a:blipFill>
        </p:spPr>
      </p:sp>
      <p:sp>
        <p:nvSpPr>
          <p:cNvPr id="11" name="Freeform 11"/>
          <p:cNvSpPr/>
          <p:nvPr/>
        </p:nvSpPr>
        <p:spPr>
          <a:xfrm>
            <a:off x="12986023" y="5895657"/>
            <a:ext cx="4273277" cy="4122243"/>
          </a:xfrm>
          <a:custGeom>
            <a:avLst/>
            <a:gdLst/>
            <a:ahLst/>
            <a:cxnLst/>
            <a:rect l="l" t="t" r="r" b="b"/>
            <a:pathLst>
              <a:path w="4273277" h="4122243">
                <a:moveTo>
                  <a:pt x="0" y="0"/>
                </a:moveTo>
                <a:lnTo>
                  <a:pt x="4273277" y="0"/>
                </a:lnTo>
                <a:lnTo>
                  <a:pt x="4273277" y="4122242"/>
                </a:lnTo>
                <a:lnTo>
                  <a:pt x="0" y="4122242"/>
                </a:lnTo>
                <a:lnTo>
                  <a:pt x="0" y="0"/>
                </a:lnTo>
                <a:close/>
              </a:path>
            </a:pathLst>
          </a:custGeom>
          <a:blipFill>
            <a:blip r:embed="rId3"/>
            <a:stretch>
              <a:fillRect r="-5686"/>
            </a:stretch>
          </a:blipFill>
        </p:spPr>
      </p:sp>
      <p:sp>
        <p:nvSpPr>
          <p:cNvPr id="12" name="TextBox 12"/>
          <p:cNvSpPr txBox="1"/>
          <p:nvPr/>
        </p:nvSpPr>
        <p:spPr>
          <a:xfrm>
            <a:off x="1028700" y="564252"/>
            <a:ext cx="14785847" cy="1149312"/>
          </a:xfrm>
          <a:prstGeom prst="rect">
            <a:avLst/>
          </a:prstGeom>
        </p:spPr>
        <p:txBody>
          <a:bodyPr lIns="0" tIns="0" rIns="0" bIns="0" rtlCol="0" anchor="t">
            <a:spAutoFit/>
          </a:bodyPr>
          <a:lstStyle/>
          <a:p>
            <a:pPr algn="l">
              <a:lnSpc>
                <a:spcPts val="8800"/>
              </a:lnSpc>
            </a:pPr>
            <a:r>
              <a:rPr lang="en-US" sz="8000" b="1">
                <a:solidFill>
                  <a:srgbClr val="1A1B18"/>
                </a:solidFill>
                <a:latin typeface="Cormorant Garamond Bold"/>
                <a:ea typeface="Cormorant Garamond Bold"/>
                <a:cs typeface="Cormorant Garamond Bold"/>
                <a:sym typeface="Cormorant Garamond Bold"/>
              </a:rPr>
              <a:t>DATA IMBALANCE HANDLING</a:t>
            </a:r>
          </a:p>
        </p:txBody>
      </p:sp>
      <p:sp>
        <p:nvSpPr>
          <p:cNvPr id="13" name="TextBox 13"/>
          <p:cNvSpPr txBox="1"/>
          <p:nvPr/>
        </p:nvSpPr>
        <p:spPr>
          <a:xfrm>
            <a:off x="937455" y="2120031"/>
            <a:ext cx="9433478" cy="8117769"/>
          </a:xfrm>
          <a:prstGeom prst="rect">
            <a:avLst/>
          </a:prstGeom>
        </p:spPr>
        <p:txBody>
          <a:bodyPr lIns="0" tIns="0" rIns="0" bIns="0" rtlCol="0" anchor="t">
            <a:spAutoFit/>
          </a:bodyPr>
          <a:lstStyle/>
          <a:p>
            <a:pPr algn="l">
              <a:lnSpc>
                <a:spcPts val="3570"/>
              </a:lnSpc>
            </a:pPr>
            <a:r>
              <a:rPr lang="en-US" sz="2746" spc="-41">
                <a:solidFill>
                  <a:srgbClr val="1A1B18"/>
                </a:solidFill>
                <a:latin typeface="Overpass"/>
                <a:ea typeface="Overpass"/>
                <a:cs typeface="Overpass"/>
                <a:sym typeface="Overpass"/>
              </a:rPr>
              <a:t>Problem: Dataset is highly imbalanced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Non-Fraud: ~99.8%</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Fraud: ~0.2%</a:t>
            </a:r>
          </a:p>
          <a:p>
            <a:pPr algn="l">
              <a:lnSpc>
                <a:spcPts val="3570"/>
              </a:lnSpc>
            </a:pPr>
            <a:r>
              <a:rPr lang="en-US" sz="2746" spc="-41">
                <a:solidFill>
                  <a:srgbClr val="1A1B18"/>
                </a:solidFill>
                <a:latin typeface="Overpass"/>
                <a:ea typeface="Overpass"/>
                <a:cs typeface="Overpass"/>
                <a:sym typeface="Overpass"/>
              </a:rPr>
              <a:t>Leads to biased models (high accuracy, poor fraud detection)</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Techniques Used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SMOTE (Oversampling)</a:t>
            </a:r>
          </a:p>
          <a:p>
            <a:pPr algn="l">
              <a:lnSpc>
                <a:spcPts val="3570"/>
              </a:lnSpc>
            </a:pPr>
            <a:endParaRPr lang="en-US" sz="2746" spc="-41">
              <a:solidFill>
                <a:srgbClr val="1A1B18"/>
              </a:solidFill>
              <a:latin typeface="Overpass"/>
              <a:ea typeface="Overpass"/>
              <a:cs typeface="Overpass"/>
              <a:sym typeface="Overpass"/>
            </a:endParaRPr>
          </a:p>
          <a:p>
            <a:pPr algn="l">
              <a:lnSpc>
                <a:spcPts val="3570"/>
              </a:lnSpc>
            </a:pPr>
            <a:r>
              <a:rPr lang="en-US" sz="2746" spc="-41">
                <a:solidFill>
                  <a:srgbClr val="1A1B18"/>
                </a:solidFill>
                <a:latin typeface="Overpass"/>
                <a:ea typeface="Overpass"/>
                <a:cs typeface="Overpass"/>
                <a:sym typeface="Overpass"/>
              </a:rPr>
              <a:t>Generates synthetic fraud samples</a:t>
            </a:r>
          </a:p>
          <a:p>
            <a:pPr algn="l">
              <a:lnSpc>
                <a:spcPts val="3570"/>
              </a:lnSpc>
            </a:pPr>
            <a:r>
              <a:rPr lang="en-US" sz="2746" spc="-41">
                <a:solidFill>
                  <a:srgbClr val="1A1B18"/>
                </a:solidFill>
                <a:latin typeface="Overpass"/>
                <a:ea typeface="Overpass"/>
                <a:cs typeface="Overpass"/>
                <a:sym typeface="Overpass"/>
              </a:rPr>
              <a:t>Balances dataset without data loss</a:t>
            </a:r>
          </a:p>
          <a:p>
            <a:pPr algn="l">
              <a:lnSpc>
                <a:spcPts val="3570"/>
              </a:lnSpc>
            </a:pPr>
            <a:r>
              <a:rPr lang="en-US" sz="2746" spc="-41">
                <a:solidFill>
                  <a:srgbClr val="1A1B18"/>
                </a:solidFill>
                <a:latin typeface="Overpass"/>
                <a:ea typeface="Overpass"/>
                <a:cs typeface="Overpass"/>
                <a:sym typeface="Overpass"/>
              </a:rPr>
              <a:t>Improves Recall &amp; F1-score</a:t>
            </a:r>
          </a:p>
          <a:p>
            <a:pPr algn="l">
              <a:lnSpc>
                <a:spcPts val="3570"/>
              </a:lnSpc>
            </a:pPr>
            <a:endParaRPr lang="en-US" sz="2746" spc="-41">
              <a:solidFill>
                <a:srgbClr val="1A1B18"/>
              </a:solidFill>
              <a:latin typeface="Overpass"/>
              <a:ea typeface="Overpass"/>
              <a:cs typeface="Overpass"/>
              <a:sym typeface="Overpass"/>
            </a:endParaRPr>
          </a:p>
          <a:p>
            <a:pPr algn="l">
              <a:lnSpc>
                <a:spcPts val="3570"/>
              </a:lnSpc>
            </a:pPr>
            <a:r>
              <a:rPr lang="en-US" sz="2746" spc="-41">
                <a:solidFill>
                  <a:srgbClr val="1A1B18"/>
                </a:solidFill>
                <a:latin typeface="Overpass"/>
                <a:ea typeface="Overpass"/>
                <a:cs typeface="Overpass"/>
                <a:sym typeface="Overpass"/>
              </a:rPr>
              <a:t>Undersampling</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Reduces majority class (non-fraud)</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Faster but loses important data</a:t>
            </a:r>
          </a:p>
          <a:p>
            <a:pPr algn="l">
              <a:lnSpc>
                <a:spcPts val="3570"/>
              </a:lnSpc>
            </a:pPr>
            <a:endParaRPr lang="en-US" sz="2746" spc="-41">
              <a:solidFill>
                <a:srgbClr val="1A1B18"/>
              </a:solidFill>
              <a:latin typeface="Overpass"/>
              <a:ea typeface="Overpass"/>
              <a:cs typeface="Overpass"/>
              <a:sym typeface="Overpass"/>
            </a:endParaRPr>
          </a:p>
          <a:p>
            <a:pPr algn="l">
              <a:lnSpc>
                <a:spcPts val="3570"/>
              </a:lnSpc>
            </a:pPr>
            <a:r>
              <a:rPr lang="en-US" sz="2746" spc="-41">
                <a:solidFill>
                  <a:srgbClr val="1A1B18"/>
                </a:solidFill>
                <a:latin typeface="Overpass"/>
                <a:ea typeface="Overpass"/>
                <a:cs typeface="Overpass"/>
                <a:sym typeface="Overpass"/>
              </a:rPr>
              <a:t>Conclusion</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SMOTE preferred for better fraud detection</a:t>
            </a:r>
          </a:p>
          <a:p>
            <a:pPr marL="592945" lvl="1" indent="-296473" algn="l">
              <a:lnSpc>
                <a:spcPts val="3570"/>
              </a:lnSpc>
              <a:buFont typeface="Arial"/>
              <a:buChar char="•"/>
            </a:pPr>
            <a:r>
              <a:rPr lang="en-US" sz="2746" spc="-41">
                <a:solidFill>
                  <a:srgbClr val="1A1B18"/>
                </a:solidFill>
                <a:latin typeface="Overpass"/>
                <a:ea typeface="Overpass"/>
                <a:cs typeface="Overpass"/>
                <a:sym typeface="Overpass"/>
              </a:rPr>
              <a:t>Undersampling used for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810512" y="1954943"/>
            <a:ext cx="16230600" cy="0"/>
          </a:xfrm>
          <a:prstGeom prst="line">
            <a:avLst/>
          </a:prstGeom>
          <a:ln w="28575" cap="flat">
            <a:solidFill>
              <a:srgbClr val="CDA63C"/>
            </a:solidFill>
            <a:prstDash val="solid"/>
            <a:headEnd type="none" w="sm" len="sm"/>
            <a:tailEnd type="none" w="sm" len="sm"/>
          </a:ln>
        </p:spPr>
      </p:sp>
      <p:sp>
        <p:nvSpPr>
          <p:cNvPr id="10" name="TextBox 10"/>
          <p:cNvSpPr txBox="1"/>
          <p:nvPr/>
        </p:nvSpPr>
        <p:spPr>
          <a:xfrm>
            <a:off x="1028700" y="583302"/>
            <a:ext cx="14785847" cy="1357354"/>
          </a:xfrm>
          <a:prstGeom prst="rect">
            <a:avLst/>
          </a:prstGeom>
        </p:spPr>
        <p:txBody>
          <a:bodyPr lIns="0" tIns="0" rIns="0" bIns="0" rtlCol="0" anchor="t">
            <a:spAutoFit/>
          </a:bodyPr>
          <a:lstStyle/>
          <a:p>
            <a:pPr algn="l">
              <a:lnSpc>
                <a:spcPts val="10450"/>
              </a:lnSpc>
            </a:pPr>
            <a:r>
              <a:rPr lang="en-US" sz="9500" b="1">
                <a:solidFill>
                  <a:srgbClr val="1A1B18"/>
                </a:solidFill>
                <a:latin typeface="Cormorant Garamond Bold"/>
                <a:ea typeface="Cormorant Garamond Bold"/>
                <a:cs typeface="Cormorant Garamond Bold"/>
                <a:sym typeface="Cormorant Garamond Bold"/>
              </a:rPr>
              <a:t>FEATURE SCALING</a:t>
            </a:r>
          </a:p>
        </p:txBody>
      </p:sp>
      <p:sp>
        <p:nvSpPr>
          <p:cNvPr id="11" name="TextBox 11"/>
          <p:cNvSpPr txBox="1"/>
          <p:nvPr/>
        </p:nvSpPr>
        <p:spPr>
          <a:xfrm>
            <a:off x="937455" y="2091456"/>
            <a:ext cx="8206545" cy="7386099"/>
          </a:xfrm>
          <a:prstGeom prst="rect">
            <a:avLst/>
          </a:prstGeom>
        </p:spPr>
        <p:txBody>
          <a:bodyPr lIns="0" tIns="0" rIns="0" bIns="0" rtlCol="0" anchor="t">
            <a:spAutoFit/>
          </a:bodyPr>
          <a:lstStyle/>
          <a:p>
            <a:pPr algn="l">
              <a:lnSpc>
                <a:spcPts val="4470"/>
              </a:lnSpc>
            </a:pPr>
            <a:r>
              <a:rPr lang="en-US" sz="3438" b="1" spc="-51">
                <a:solidFill>
                  <a:srgbClr val="1A1B18"/>
                </a:solidFill>
                <a:latin typeface="Overpass Ultra-Bold"/>
                <a:ea typeface="Overpass Ultra-Bold"/>
                <a:cs typeface="Overpass Ultra-Bold"/>
                <a:sym typeface="Overpass Ultra-Bold"/>
              </a:rPr>
              <a:t>Problem</a:t>
            </a:r>
          </a:p>
          <a:p>
            <a:pPr algn="l">
              <a:lnSpc>
                <a:spcPts val="4470"/>
              </a:lnSpc>
            </a:pPr>
            <a:r>
              <a:rPr lang="en-US" sz="3438" spc="-51">
                <a:solidFill>
                  <a:srgbClr val="1A1B18"/>
                </a:solidFill>
                <a:latin typeface="Overpass"/>
                <a:ea typeface="Overpass"/>
                <a:cs typeface="Overpass"/>
                <a:sym typeface="Overpass"/>
              </a:rPr>
              <a:t>         Features have different ranges</a:t>
            </a:r>
          </a:p>
          <a:p>
            <a:pPr algn="l">
              <a:lnSpc>
                <a:spcPts val="4470"/>
              </a:lnSpc>
            </a:pPr>
            <a:r>
              <a:rPr lang="en-US" sz="3438" spc="-51">
                <a:solidFill>
                  <a:srgbClr val="1A1B18"/>
                </a:solidFill>
                <a:latin typeface="Overpass"/>
                <a:ea typeface="Overpass"/>
                <a:cs typeface="Overpass"/>
                <a:sym typeface="Overpass"/>
              </a:rPr>
              <a:t>Amount: 0 → 25,000</a:t>
            </a:r>
          </a:p>
          <a:p>
            <a:pPr algn="l">
              <a:lnSpc>
                <a:spcPts val="4470"/>
              </a:lnSpc>
            </a:pPr>
            <a:r>
              <a:rPr lang="en-US" sz="3438" spc="-51">
                <a:solidFill>
                  <a:srgbClr val="1A1B18"/>
                </a:solidFill>
                <a:latin typeface="Overpass"/>
                <a:ea typeface="Overpass"/>
                <a:cs typeface="Overpass"/>
                <a:sym typeface="Overpass"/>
              </a:rPr>
              <a:t>Others (PCA): small values</a:t>
            </a:r>
          </a:p>
          <a:p>
            <a:pPr algn="l">
              <a:lnSpc>
                <a:spcPts val="4470"/>
              </a:lnSpc>
            </a:pPr>
            <a:r>
              <a:rPr lang="en-US" sz="3438" spc="-51">
                <a:solidFill>
                  <a:srgbClr val="1A1B18"/>
                </a:solidFill>
                <a:latin typeface="Overpass"/>
                <a:ea typeface="Overpass"/>
                <a:cs typeface="Overpass"/>
                <a:sym typeface="Overpass"/>
              </a:rPr>
              <a:t>Causes bias in model learning</a:t>
            </a:r>
          </a:p>
          <a:p>
            <a:pPr algn="l">
              <a:lnSpc>
                <a:spcPts val="4470"/>
              </a:lnSpc>
            </a:pPr>
            <a:endParaRPr lang="en-US" sz="3438" spc="-51">
              <a:solidFill>
                <a:srgbClr val="1A1B18"/>
              </a:solidFill>
              <a:latin typeface="Overpass"/>
              <a:ea typeface="Overpass"/>
              <a:cs typeface="Overpass"/>
              <a:sym typeface="Overpass"/>
            </a:endParaRPr>
          </a:p>
          <a:p>
            <a:pPr algn="l">
              <a:lnSpc>
                <a:spcPts val="4470"/>
              </a:lnSpc>
            </a:pPr>
            <a:r>
              <a:rPr lang="en-US" sz="3438" b="1" spc="-51">
                <a:solidFill>
                  <a:srgbClr val="1A1B18"/>
                </a:solidFill>
                <a:latin typeface="Overpass Ultra-Bold"/>
                <a:ea typeface="Overpass Ultra-Bold"/>
                <a:cs typeface="Overpass Ultra-Bold"/>
                <a:sym typeface="Overpass Ultra-Bold"/>
              </a:rPr>
              <a:t>Solution:</a:t>
            </a:r>
            <a:r>
              <a:rPr lang="en-US" sz="3438" spc="-51">
                <a:solidFill>
                  <a:srgbClr val="1A1B18"/>
                </a:solidFill>
                <a:latin typeface="Overpass"/>
                <a:ea typeface="Overpass"/>
                <a:cs typeface="Overpass"/>
                <a:sym typeface="Overpass"/>
              </a:rPr>
              <a:t> StandardScaler</a:t>
            </a:r>
          </a:p>
          <a:p>
            <a:pPr algn="l">
              <a:lnSpc>
                <a:spcPts val="4470"/>
              </a:lnSpc>
            </a:pPr>
            <a:r>
              <a:rPr lang="en-US" sz="3438" spc="-51">
                <a:solidFill>
                  <a:srgbClr val="1A1B18"/>
                </a:solidFill>
                <a:latin typeface="Overpass"/>
                <a:ea typeface="Overpass"/>
                <a:cs typeface="Overpass"/>
                <a:sym typeface="Overpass"/>
              </a:rPr>
              <a:t>Converts data to:</a:t>
            </a:r>
          </a:p>
          <a:p>
            <a:pPr marL="742426" lvl="1" indent="-371213" algn="l">
              <a:lnSpc>
                <a:spcPts val="4470"/>
              </a:lnSpc>
              <a:buFont typeface="Arial"/>
              <a:buChar char="•"/>
            </a:pPr>
            <a:r>
              <a:rPr lang="en-US" sz="3438" spc="-51">
                <a:solidFill>
                  <a:srgbClr val="1A1B18"/>
                </a:solidFill>
                <a:latin typeface="Overpass"/>
                <a:ea typeface="Overpass"/>
                <a:cs typeface="Overpass"/>
                <a:sym typeface="Overpass"/>
              </a:rPr>
              <a:t>Mean = 0</a:t>
            </a:r>
          </a:p>
          <a:p>
            <a:pPr marL="742426" lvl="1" indent="-371213" algn="l">
              <a:lnSpc>
                <a:spcPts val="4470"/>
              </a:lnSpc>
              <a:buFont typeface="Arial"/>
              <a:buChar char="•"/>
            </a:pPr>
            <a:r>
              <a:rPr lang="en-US" sz="3438" spc="-51">
                <a:solidFill>
                  <a:srgbClr val="1A1B18"/>
                </a:solidFill>
                <a:latin typeface="Overpass"/>
                <a:ea typeface="Overpass"/>
                <a:cs typeface="Overpass"/>
                <a:sym typeface="Overpass"/>
              </a:rPr>
              <a:t>Std = 1</a:t>
            </a:r>
          </a:p>
          <a:p>
            <a:pPr algn="l">
              <a:lnSpc>
                <a:spcPts val="4470"/>
              </a:lnSpc>
            </a:pPr>
            <a:r>
              <a:rPr lang="en-US" sz="3438" spc="-51">
                <a:solidFill>
                  <a:srgbClr val="1A1B18"/>
                </a:solidFill>
                <a:latin typeface="Overpass"/>
                <a:ea typeface="Overpass"/>
                <a:cs typeface="Overpass"/>
                <a:sym typeface="Overpass"/>
              </a:rPr>
              <a:t>Applied on:</a:t>
            </a:r>
          </a:p>
          <a:p>
            <a:pPr marL="742426" lvl="1" indent="-371213" algn="l">
              <a:lnSpc>
                <a:spcPts val="4470"/>
              </a:lnSpc>
              <a:buFont typeface="Arial"/>
              <a:buChar char="•"/>
            </a:pPr>
            <a:r>
              <a:rPr lang="en-US" sz="3438" spc="-51">
                <a:solidFill>
                  <a:srgbClr val="1A1B18"/>
                </a:solidFill>
                <a:latin typeface="Overpass"/>
                <a:ea typeface="Overpass"/>
                <a:cs typeface="Overpass"/>
                <a:sym typeface="Overpass"/>
              </a:rPr>
              <a:t>Amount</a:t>
            </a:r>
          </a:p>
          <a:p>
            <a:pPr marL="742426" lvl="1" indent="-371213" algn="l">
              <a:lnSpc>
                <a:spcPts val="4470"/>
              </a:lnSpc>
              <a:buFont typeface="Arial"/>
              <a:buChar char="•"/>
            </a:pPr>
            <a:r>
              <a:rPr lang="en-US" sz="3438" spc="-51">
                <a:solidFill>
                  <a:srgbClr val="1A1B18"/>
                </a:solidFill>
                <a:latin typeface="Overpass"/>
                <a:ea typeface="Overpass"/>
                <a:cs typeface="Overpass"/>
                <a:sym typeface="Overpass"/>
              </a:rPr>
              <a:t>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592323" y="1363655"/>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8597554" y="2127291"/>
            <a:ext cx="8443557" cy="3303542"/>
          </a:xfrm>
          <a:custGeom>
            <a:avLst/>
            <a:gdLst/>
            <a:ahLst/>
            <a:cxnLst/>
            <a:rect l="l" t="t" r="r" b="b"/>
            <a:pathLst>
              <a:path w="8443557" h="3303542">
                <a:moveTo>
                  <a:pt x="0" y="0"/>
                </a:moveTo>
                <a:lnTo>
                  <a:pt x="8443558" y="0"/>
                </a:lnTo>
                <a:lnTo>
                  <a:pt x="8443558" y="3303542"/>
                </a:lnTo>
                <a:lnTo>
                  <a:pt x="0" y="3303542"/>
                </a:lnTo>
                <a:lnTo>
                  <a:pt x="0" y="0"/>
                </a:lnTo>
                <a:close/>
              </a:path>
            </a:pathLst>
          </a:custGeom>
          <a:blipFill>
            <a:blip r:embed="rId2"/>
            <a:stretch>
              <a:fillRect/>
            </a:stretch>
          </a:blipFill>
        </p:spPr>
      </p:sp>
      <p:sp>
        <p:nvSpPr>
          <p:cNvPr id="11" name="Freeform 11"/>
          <p:cNvSpPr/>
          <p:nvPr/>
        </p:nvSpPr>
        <p:spPr>
          <a:xfrm>
            <a:off x="8597554" y="5895975"/>
            <a:ext cx="8661746" cy="2793413"/>
          </a:xfrm>
          <a:custGeom>
            <a:avLst/>
            <a:gdLst/>
            <a:ahLst/>
            <a:cxnLst/>
            <a:rect l="l" t="t" r="r" b="b"/>
            <a:pathLst>
              <a:path w="8661746" h="2793413">
                <a:moveTo>
                  <a:pt x="0" y="0"/>
                </a:moveTo>
                <a:lnTo>
                  <a:pt x="8661746" y="0"/>
                </a:lnTo>
                <a:lnTo>
                  <a:pt x="8661746" y="2793413"/>
                </a:lnTo>
                <a:lnTo>
                  <a:pt x="0" y="2793413"/>
                </a:lnTo>
                <a:lnTo>
                  <a:pt x="0" y="0"/>
                </a:lnTo>
                <a:close/>
              </a:path>
            </a:pathLst>
          </a:custGeom>
          <a:blipFill>
            <a:blip r:embed="rId3"/>
            <a:stretch>
              <a:fillRect/>
            </a:stretch>
          </a:blipFill>
        </p:spPr>
      </p:sp>
      <p:sp>
        <p:nvSpPr>
          <p:cNvPr id="12" name="TextBox 12"/>
          <p:cNvSpPr txBox="1"/>
          <p:nvPr/>
        </p:nvSpPr>
        <p:spPr>
          <a:xfrm>
            <a:off x="551169" y="200055"/>
            <a:ext cx="14785847" cy="1149312"/>
          </a:xfrm>
          <a:prstGeom prst="rect">
            <a:avLst/>
          </a:prstGeom>
        </p:spPr>
        <p:txBody>
          <a:bodyPr lIns="0" tIns="0" rIns="0" bIns="0" rtlCol="0" anchor="t">
            <a:spAutoFit/>
          </a:bodyPr>
          <a:lstStyle/>
          <a:p>
            <a:pPr algn="l">
              <a:lnSpc>
                <a:spcPts val="8800"/>
              </a:lnSpc>
            </a:pPr>
            <a:r>
              <a:rPr lang="en-US" sz="8000" b="1">
                <a:solidFill>
                  <a:srgbClr val="1A1B18"/>
                </a:solidFill>
                <a:latin typeface="Cormorant Garamond Bold"/>
                <a:ea typeface="Cormorant Garamond Bold"/>
                <a:cs typeface="Cormorant Garamond Bold"/>
                <a:sym typeface="Cormorant Garamond Bold"/>
              </a:rPr>
              <a:t>METHODOLOGY</a:t>
            </a:r>
          </a:p>
        </p:txBody>
      </p:sp>
      <p:sp>
        <p:nvSpPr>
          <p:cNvPr id="13" name="TextBox 13"/>
          <p:cNvSpPr txBox="1"/>
          <p:nvPr/>
        </p:nvSpPr>
        <p:spPr>
          <a:xfrm>
            <a:off x="592323" y="1965009"/>
            <a:ext cx="8592831" cy="7174766"/>
          </a:xfrm>
          <a:prstGeom prst="rect">
            <a:avLst/>
          </a:prstGeom>
        </p:spPr>
        <p:txBody>
          <a:bodyPr lIns="0" tIns="0" rIns="0" bIns="0" rtlCol="0" anchor="t">
            <a:spAutoFit/>
          </a:bodyPr>
          <a:lstStyle/>
          <a:p>
            <a:pPr algn="l">
              <a:lnSpc>
                <a:spcPts val="3546"/>
              </a:lnSpc>
            </a:pPr>
            <a:r>
              <a:rPr lang="en-US" sz="2727" spc="-40">
                <a:solidFill>
                  <a:srgbClr val="1A1B18"/>
                </a:solidFill>
                <a:latin typeface="Overpass"/>
                <a:ea typeface="Overpass"/>
                <a:cs typeface="Overpass"/>
                <a:sym typeface="Overpass"/>
              </a:rPr>
              <a:t>Models Used</a:t>
            </a:r>
          </a:p>
          <a:p>
            <a:pPr algn="l">
              <a:lnSpc>
                <a:spcPts val="3546"/>
              </a:lnSpc>
            </a:pPr>
            <a:r>
              <a:rPr lang="en-US" sz="2727" spc="-40">
                <a:solidFill>
                  <a:srgbClr val="1A1B18"/>
                </a:solidFill>
                <a:latin typeface="Overpass"/>
                <a:ea typeface="Overpass"/>
                <a:cs typeface="Overpass"/>
                <a:sym typeface="Overpass"/>
              </a:rPr>
              <a:t>Logistic Regression (baseline)</a:t>
            </a:r>
          </a:p>
          <a:p>
            <a:pPr algn="l">
              <a:lnSpc>
                <a:spcPts val="3546"/>
              </a:lnSpc>
            </a:pPr>
            <a:r>
              <a:rPr lang="en-US" sz="2727" spc="-40">
                <a:solidFill>
                  <a:srgbClr val="1A1B18"/>
                </a:solidFill>
                <a:latin typeface="Overpass"/>
                <a:ea typeface="Overpass"/>
                <a:cs typeface="Overpass"/>
                <a:sym typeface="Overpass"/>
              </a:rPr>
              <a:t>Decision Tree (non-linear patterns)</a:t>
            </a:r>
          </a:p>
          <a:p>
            <a:pPr algn="l">
              <a:lnSpc>
                <a:spcPts val="3546"/>
              </a:lnSpc>
            </a:pPr>
            <a:r>
              <a:rPr lang="en-US" sz="2727" spc="-40">
                <a:solidFill>
                  <a:srgbClr val="1A1B18"/>
                </a:solidFill>
                <a:latin typeface="Overpass"/>
                <a:ea typeface="Overpass"/>
                <a:cs typeface="Overpass"/>
                <a:sym typeface="Overpass"/>
              </a:rPr>
              <a:t>Random Forest (final model)</a:t>
            </a:r>
          </a:p>
          <a:p>
            <a:pPr algn="l">
              <a:lnSpc>
                <a:spcPts val="3546"/>
              </a:lnSpc>
            </a:pPr>
            <a:endParaRPr lang="en-US" sz="2727" spc="-40">
              <a:solidFill>
                <a:srgbClr val="1A1B18"/>
              </a:solidFill>
              <a:latin typeface="Overpass"/>
              <a:ea typeface="Overpass"/>
              <a:cs typeface="Overpass"/>
              <a:sym typeface="Overpass"/>
            </a:endParaRPr>
          </a:p>
          <a:p>
            <a:pPr algn="l">
              <a:lnSpc>
                <a:spcPts val="3546"/>
              </a:lnSpc>
            </a:pPr>
            <a:r>
              <a:rPr lang="en-US" sz="2727" spc="-40">
                <a:solidFill>
                  <a:srgbClr val="1A1B18"/>
                </a:solidFill>
                <a:latin typeface="Overpass"/>
                <a:ea typeface="Overpass"/>
                <a:cs typeface="Overpass"/>
                <a:sym typeface="Overpass"/>
              </a:rPr>
              <a:t>Workflow</a:t>
            </a:r>
          </a:p>
          <a:p>
            <a:pPr algn="l">
              <a:lnSpc>
                <a:spcPts val="3546"/>
              </a:lnSpc>
            </a:pPr>
            <a:r>
              <a:rPr lang="en-US" sz="2727" spc="-40">
                <a:solidFill>
                  <a:srgbClr val="1A1B18"/>
                </a:solidFill>
                <a:latin typeface="Overpass"/>
                <a:ea typeface="Overpass"/>
                <a:cs typeface="Overpass"/>
                <a:sym typeface="Overpass"/>
              </a:rPr>
              <a:t>Data → Split → SMOTE → Scaling → Train Models → Tuning → Threshold (0.4) → Final Output</a:t>
            </a:r>
          </a:p>
          <a:p>
            <a:pPr algn="l">
              <a:lnSpc>
                <a:spcPts val="3546"/>
              </a:lnSpc>
            </a:pPr>
            <a:endParaRPr lang="en-US" sz="2727" spc="-40">
              <a:solidFill>
                <a:srgbClr val="1A1B18"/>
              </a:solidFill>
              <a:latin typeface="Overpass"/>
              <a:ea typeface="Overpass"/>
              <a:cs typeface="Overpass"/>
              <a:sym typeface="Overpass"/>
            </a:endParaRPr>
          </a:p>
          <a:p>
            <a:pPr algn="l">
              <a:lnSpc>
                <a:spcPts val="3546"/>
              </a:lnSpc>
            </a:pPr>
            <a:r>
              <a:rPr lang="en-US" sz="2727" spc="-40">
                <a:solidFill>
                  <a:srgbClr val="1A1B18"/>
                </a:solidFill>
                <a:latin typeface="Overpass"/>
                <a:ea typeface="Overpass"/>
                <a:cs typeface="Overpass"/>
                <a:sym typeface="Overpass"/>
              </a:rPr>
              <a:t>Why These Methods?</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Dataset is highly imbalanced</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Focus on Recall (fraud detection)</a:t>
            </a:r>
          </a:p>
          <a:p>
            <a:pPr algn="l">
              <a:lnSpc>
                <a:spcPts val="3546"/>
              </a:lnSpc>
            </a:pPr>
            <a:endParaRPr lang="en-US" sz="2727" spc="-40">
              <a:solidFill>
                <a:srgbClr val="1A1B18"/>
              </a:solidFill>
              <a:latin typeface="Overpass"/>
              <a:ea typeface="Overpass"/>
              <a:cs typeface="Overpass"/>
              <a:sym typeface="Overpass"/>
            </a:endParaRPr>
          </a:p>
          <a:p>
            <a:pPr algn="l">
              <a:lnSpc>
                <a:spcPts val="3546"/>
              </a:lnSpc>
            </a:pPr>
            <a:r>
              <a:rPr lang="en-US" sz="2727" spc="-40">
                <a:solidFill>
                  <a:srgbClr val="1A1B18"/>
                </a:solidFill>
                <a:latin typeface="Overpass"/>
                <a:ea typeface="Overpass"/>
                <a:cs typeface="Overpass"/>
                <a:sym typeface="Overpass"/>
              </a:rPr>
              <a:t>Random Forest:</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Handles complex data well</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Reduces overfitting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592323" y="1363655"/>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8636616" y="2691010"/>
            <a:ext cx="7630223" cy="1235576"/>
          </a:xfrm>
          <a:custGeom>
            <a:avLst/>
            <a:gdLst/>
            <a:ahLst/>
            <a:cxnLst/>
            <a:rect l="l" t="t" r="r" b="b"/>
            <a:pathLst>
              <a:path w="7630223" h="1235576">
                <a:moveTo>
                  <a:pt x="0" y="0"/>
                </a:moveTo>
                <a:lnTo>
                  <a:pt x="7630223" y="0"/>
                </a:lnTo>
                <a:lnTo>
                  <a:pt x="7630223" y="1235576"/>
                </a:lnTo>
                <a:lnTo>
                  <a:pt x="0" y="1235576"/>
                </a:lnTo>
                <a:lnTo>
                  <a:pt x="0" y="0"/>
                </a:lnTo>
                <a:close/>
              </a:path>
            </a:pathLst>
          </a:custGeom>
          <a:blipFill>
            <a:blip r:embed="rId2"/>
            <a:stretch>
              <a:fillRect/>
            </a:stretch>
          </a:blipFill>
        </p:spPr>
      </p:sp>
      <p:sp>
        <p:nvSpPr>
          <p:cNvPr id="11" name="Freeform 11"/>
          <p:cNvSpPr/>
          <p:nvPr/>
        </p:nvSpPr>
        <p:spPr>
          <a:xfrm>
            <a:off x="8636616" y="4475725"/>
            <a:ext cx="7630223" cy="1335550"/>
          </a:xfrm>
          <a:custGeom>
            <a:avLst/>
            <a:gdLst/>
            <a:ahLst/>
            <a:cxnLst/>
            <a:rect l="l" t="t" r="r" b="b"/>
            <a:pathLst>
              <a:path w="7630223" h="1335550">
                <a:moveTo>
                  <a:pt x="0" y="0"/>
                </a:moveTo>
                <a:lnTo>
                  <a:pt x="7630223" y="0"/>
                </a:lnTo>
                <a:lnTo>
                  <a:pt x="7630223" y="1335550"/>
                </a:lnTo>
                <a:lnTo>
                  <a:pt x="0" y="1335550"/>
                </a:lnTo>
                <a:lnTo>
                  <a:pt x="0" y="0"/>
                </a:lnTo>
                <a:close/>
              </a:path>
            </a:pathLst>
          </a:custGeom>
          <a:blipFill>
            <a:blip r:embed="rId3"/>
            <a:stretch>
              <a:fillRect t="-11212" b="-11212"/>
            </a:stretch>
          </a:blipFill>
        </p:spPr>
      </p:sp>
      <p:sp>
        <p:nvSpPr>
          <p:cNvPr id="12" name="TextBox 12"/>
          <p:cNvSpPr txBox="1"/>
          <p:nvPr/>
        </p:nvSpPr>
        <p:spPr>
          <a:xfrm>
            <a:off x="551169" y="200055"/>
            <a:ext cx="14785847" cy="1149312"/>
          </a:xfrm>
          <a:prstGeom prst="rect">
            <a:avLst/>
          </a:prstGeom>
        </p:spPr>
        <p:txBody>
          <a:bodyPr lIns="0" tIns="0" rIns="0" bIns="0" rtlCol="0" anchor="t">
            <a:spAutoFit/>
          </a:bodyPr>
          <a:lstStyle/>
          <a:p>
            <a:pPr algn="l">
              <a:lnSpc>
                <a:spcPts val="8800"/>
              </a:lnSpc>
            </a:pPr>
            <a:r>
              <a:rPr lang="en-US" sz="8000" b="1">
                <a:solidFill>
                  <a:srgbClr val="1A1B18"/>
                </a:solidFill>
                <a:latin typeface="Cormorant Garamond Bold"/>
                <a:ea typeface="Cormorant Garamond Bold"/>
                <a:cs typeface="Cormorant Garamond Bold"/>
                <a:sym typeface="Cormorant Garamond Bold"/>
              </a:rPr>
              <a:t>METHODOLOGY</a:t>
            </a:r>
          </a:p>
        </p:txBody>
      </p:sp>
      <p:sp>
        <p:nvSpPr>
          <p:cNvPr id="13" name="TextBox 13"/>
          <p:cNvSpPr txBox="1"/>
          <p:nvPr/>
        </p:nvSpPr>
        <p:spPr>
          <a:xfrm>
            <a:off x="843908" y="1472753"/>
            <a:ext cx="7792708" cy="8814247"/>
          </a:xfrm>
          <a:prstGeom prst="rect">
            <a:avLst/>
          </a:prstGeom>
        </p:spPr>
        <p:txBody>
          <a:bodyPr lIns="0" tIns="0" rIns="0" bIns="0" rtlCol="0" anchor="t">
            <a:spAutoFit/>
          </a:bodyPr>
          <a:lstStyle/>
          <a:p>
            <a:pPr algn="l">
              <a:lnSpc>
                <a:spcPts val="3486"/>
              </a:lnSpc>
            </a:pPr>
            <a:r>
              <a:rPr lang="en-US" sz="2681" spc="-40">
                <a:solidFill>
                  <a:srgbClr val="1A1B18"/>
                </a:solidFill>
                <a:latin typeface="Overpass"/>
                <a:ea typeface="Overpass"/>
                <a:cs typeface="Overpass"/>
                <a:sym typeface="Overpass"/>
              </a:rPr>
              <a:t>Key Results </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Random Forest (Tuned)</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Recall: 0.86</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Precision: 0.43</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F1-score: 0.57</a:t>
            </a:r>
          </a:p>
          <a:p>
            <a:pPr algn="l">
              <a:lnSpc>
                <a:spcPts val="3486"/>
              </a:lnSpc>
            </a:pPr>
            <a:endParaRPr lang="en-US" sz="2681" spc="-40">
              <a:solidFill>
                <a:srgbClr val="1A1B18"/>
              </a:solidFill>
              <a:latin typeface="Overpass"/>
              <a:ea typeface="Overpass"/>
              <a:cs typeface="Overpass"/>
              <a:sym typeface="Overpass"/>
            </a:endParaRPr>
          </a:p>
          <a:p>
            <a:pPr algn="l">
              <a:lnSpc>
                <a:spcPts val="3486"/>
              </a:lnSpc>
            </a:pPr>
            <a:r>
              <a:rPr lang="en-US" sz="2681" spc="-40">
                <a:solidFill>
                  <a:srgbClr val="1A1B18"/>
                </a:solidFill>
                <a:latin typeface="Overpass"/>
                <a:ea typeface="Overpass"/>
                <a:cs typeface="Overpass"/>
                <a:sym typeface="Overpass"/>
              </a:rPr>
              <a:t>After Threshold Tuning (0.4)</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Recall: 0.89 (Best)</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Precision: 0.28</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F1-score: 0.43</a:t>
            </a:r>
          </a:p>
          <a:p>
            <a:pPr algn="l">
              <a:lnSpc>
                <a:spcPts val="3486"/>
              </a:lnSpc>
            </a:pPr>
            <a:endParaRPr lang="en-US" sz="2681" spc="-40">
              <a:solidFill>
                <a:srgbClr val="1A1B18"/>
              </a:solidFill>
              <a:latin typeface="Overpass"/>
              <a:ea typeface="Overpass"/>
              <a:cs typeface="Overpass"/>
              <a:sym typeface="Overpass"/>
            </a:endParaRPr>
          </a:p>
          <a:p>
            <a:pPr algn="l">
              <a:lnSpc>
                <a:spcPts val="3486"/>
              </a:lnSpc>
            </a:pPr>
            <a:r>
              <a:rPr lang="en-US" sz="2681" spc="-40">
                <a:solidFill>
                  <a:srgbClr val="1A1B18"/>
                </a:solidFill>
                <a:latin typeface="Overpass"/>
                <a:ea typeface="Overpass"/>
                <a:cs typeface="Overpass"/>
                <a:sym typeface="Overpass"/>
              </a:rPr>
              <a:t>Model Improvement</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Old RF Recall: 0.83</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Tuned RF Recall: 0.86</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Final Recall: 0.89</a:t>
            </a:r>
          </a:p>
          <a:p>
            <a:pPr algn="l">
              <a:lnSpc>
                <a:spcPts val="3486"/>
              </a:lnSpc>
            </a:pPr>
            <a:endParaRPr lang="en-US" sz="2681" spc="-40">
              <a:solidFill>
                <a:srgbClr val="1A1B18"/>
              </a:solidFill>
              <a:latin typeface="Overpass"/>
              <a:ea typeface="Overpass"/>
              <a:cs typeface="Overpass"/>
              <a:sym typeface="Overpass"/>
            </a:endParaRPr>
          </a:p>
          <a:p>
            <a:pPr algn="l">
              <a:lnSpc>
                <a:spcPts val="3486"/>
              </a:lnSpc>
            </a:pPr>
            <a:r>
              <a:rPr lang="en-US" sz="2681" spc="-40">
                <a:solidFill>
                  <a:srgbClr val="1A1B18"/>
                </a:solidFill>
                <a:latin typeface="Overpass"/>
                <a:ea typeface="Overpass"/>
                <a:cs typeface="Overpass"/>
                <a:sym typeface="Overpass"/>
              </a:rPr>
              <a:t>Conclusion</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High recall → better fraud detection</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Lower precision → acceptable trade-off</a:t>
            </a:r>
          </a:p>
          <a:p>
            <a:pPr marL="579037" lvl="1" indent="-289519" algn="l">
              <a:lnSpc>
                <a:spcPts val="3486"/>
              </a:lnSpc>
              <a:buFont typeface="Arial"/>
              <a:buChar char="•"/>
            </a:pPr>
            <a:r>
              <a:rPr lang="en-US" sz="2681" spc="-40">
                <a:solidFill>
                  <a:srgbClr val="1A1B18"/>
                </a:solidFill>
                <a:latin typeface="Overpass"/>
                <a:ea typeface="Overpass"/>
                <a:cs typeface="Overpass"/>
                <a:sym typeface="Overpass"/>
              </a:rPr>
              <a:t>Final model = Random Forest + threshold tuning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547386" y="1954943"/>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569449" y="4975777"/>
            <a:ext cx="5656621" cy="5143500"/>
          </a:xfrm>
          <a:custGeom>
            <a:avLst/>
            <a:gdLst/>
            <a:ahLst/>
            <a:cxnLst/>
            <a:rect l="l" t="t" r="r" b="b"/>
            <a:pathLst>
              <a:path w="5656621" h="5143500">
                <a:moveTo>
                  <a:pt x="0" y="0"/>
                </a:moveTo>
                <a:lnTo>
                  <a:pt x="5656621" y="0"/>
                </a:lnTo>
                <a:lnTo>
                  <a:pt x="5656621" y="5143500"/>
                </a:lnTo>
                <a:lnTo>
                  <a:pt x="0" y="5143500"/>
                </a:lnTo>
                <a:lnTo>
                  <a:pt x="0" y="0"/>
                </a:lnTo>
                <a:close/>
              </a:path>
            </a:pathLst>
          </a:custGeom>
          <a:blipFill>
            <a:blip r:embed="rId2"/>
            <a:stretch>
              <a:fillRect t="-272" b="-272"/>
            </a:stretch>
          </a:blipFill>
        </p:spPr>
      </p:sp>
      <p:graphicFrame>
        <p:nvGraphicFramePr>
          <p:cNvPr id="11" name="Object 11"/>
          <p:cNvGraphicFramePr/>
          <p:nvPr/>
        </p:nvGraphicFramePr>
        <p:xfrm>
          <a:off x="7203045" y="2617166"/>
          <a:ext cx="7543800" cy="3771900"/>
        </p:xfrm>
        <a:graphic>
          <a:graphicData uri="http://schemas.openxmlformats.org/presentationml/2006/ole">
            <mc:AlternateContent xmlns:mc="http://schemas.openxmlformats.org/markup-compatibility/2006">
              <mc:Choice xmlns:v="urn:schemas-microsoft-com:vml" Requires="v">
                <p:oleObj name="Worksheet" r:id="rId3" imgW="9042400" imgH="5270500" progId="Excel.Sheet.12">
                  <p:embed/>
                </p:oleObj>
              </mc:Choice>
              <mc:Fallback>
                <p:oleObj name="Worksheet" r:id="rId3" imgW="9042400" imgH="5270500" progId="Excel.Sheet.12">
                  <p:embed/>
                  <p:pic>
                    <p:nvPicPr>
                      <p:cNvPr id="11" name="Object 11"/>
                      <p:cNvPicPr/>
                      <p:nvPr/>
                    </p:nvPicPr>
                    <p:blipFill>
                      <a:blip r:embed="rId4"/>
                      <a:stretch>
                        <a:fillRect/>
                      </a:stretch>
                    </p:blipFill>
                    <p:spPr>
                      <a:xfrm>
                        <a:off x="7203045" y="2617166"/>
                        <a:ext cx="7543800" cy="3771900"/>
                      </a:xfrm>
                      <a:prstGeom prst="rect">
                        <a:avLst/>
                      </a:prstGeom>
                    </p:spPr>
                  </p:pic>
                </p:oleObj>
              </mc:Fallback>
            </mc:AlternateContent>
          </a:graphicData>
        </a:graphic>
      </p:graphicFrame>
      <p:sp>
        <p:nvSpPr>
          <p:cNvPr id="12" name="TextBox 12"/>
          <p:cNvSpPr txBox="1"/>
          <p:nvPr/>
        </p:nvSpPr>
        <p:spPr>
          <a:xfrm>
            <a:off x="1028700" y="583302"/>
            <a:ext cx="14785847" cy="1223626"/>
          </a:xfrm>
          <a:prstGeom prst="rect">
            <a:avLst/>
          </a:prstGeom>
        </p:spPr>
        <p:txBody>
          <a:bodyPr lIns="0" tIns="0" rIns="0" bIns="0" rtlCol="0" anchor="t">
            <a:spAutoFit/>
          </a:bodyPr>
          <a:lstStyle/>
          <a:p>
            <a:pPr algn="l">
              <a:lnSpc>
                <a:spcPts val="9460"/>
              </a:lnSpc>
            </a:pPr>
            <a:r>
              <a:rPr lang="en-US" sz="8600" b="1">
                <a:solidFill>
                  <a:srgbClr val="1A1B18"/>
                </a:solidFill>
                <a:latin typeface="Cormorant Garamond Bold"/>
                <a:ea typeface="Cormorant Garamond Bold"/>
                <a:cs typeface="Cormorant Garamond Bold"/>
                <a:sym typeface="Cormorant Garamond Bold"/>
              </a:rPr>
              <a:t>RESULTS AND EVALUATION</a:t>
            </a:r>
          </a:p>
        </p:txBody>
      </p:sp>
      <p:sp>
        <p:nvSpPr>
          <p:cNvPr id="13" name="TextBox 13"/>
          <p:cNvSpPr txBox="1"/>
          <p:nvPr/>
        </p:nvSpPr>
        <p:spPr>
          <a:xfrm>
            <a:off x="569449" y="2300117"/>
            <a:ext cx="7852174" cy="2843383"/>
          </a:xfrm>
          <a:prstGeom prst="rect">
            <a:avLst/>
          </a:prstGeom>
        </p:spPr>
        <p:txBody>
          <a:bodyPr lIns="0" tIns="0" rIns="0" bIns="0" rtlCol="0" anchor="t">
            <a:spAutoFit/>
          </a:bodyPr>
          <a:lstStyle/>
          <a:p>
            <a:pPr algn="l">
              <a:lnSpc>
                <a:spcPts val="2787"/>
              </a:lnSpc>
            </a:pPr>
            <a:r>
              <a:rPr lang="en-US" sz="2144" spc="-32">
                <a:solidFill>
                  <a:srgbClr val="1A1B18"/>
                </a:solidFill>
                <a:latin typeface="Overpass"/>
                <a:ea typeface="Overpass"/>
                <a:cs typeface="Overpass"/>
                <a:sym typeface="Overpass"/>
              </a:rPr>
              <a:t>Evaluation Metrics Used</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Precision → Measures correctness of fraud predictions</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Recall → Measures ability to detect actual frauds</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F1-score → Balance between precision and recall</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ROC-AUC → Overall model performance</a:t>
            </a:r>
          </a:p>
          <a:p>
            <a:pPr algn="l">
              <a:lnSpc>
                <a:spcPts val="2787"/>
              </a:lnSpc>
            </a:pPr>
            <a:endParaRPr lang="en-US" sz="2144" spc="-32">
              <a:solidFill>
                <a:srgbClr val="1A1B18"/>
              </a:solidFill>
              <a:latin typeface="Overpass"/>
              <a:ea typeface="Overpass"/>
              <a:cs typeface="Overpass"/>
              <a:sym typeface="Overpass"/>
            </a:endParaRPr>
          </a:p>
          <a:p>
            <a:pPr algn="l">
              <a:lnSpc>
                <a:spcPts val="2787"/>
              </a:lnSpc>
            </a:pPr>
            <a:r>
              <a:rPr lang="en-US" sz="2144" spc="-32">
                <a:solidFill>
                  <a:srgbClr val="1A1B18"/>
                </a:solidFill>
                <a:latin typeface="Overpass"/>
                <a:ea typeface="Overpass"/>
                <a:cs typeface="Overpass"/>
                <a:sym typeface="Overpass"/>
              </a:rPr>
              <a:t>Focus was on Recall, due to imbalanced dataset</a:t>
            </a:r>
          </a:p>
          <a:p>
            <a:pPr algn="l">
              <a:lnSpc>
                <a:spcPts val="2787"/>
              </a:lnSpc>
            </a:pPr>
            <a:endParaRPr lang="en-US" sz="2144" spc="-32">
              <a:solidFill>
                <a:srgbClr val="1A1B18"/>
              </a:solidFill>
              <a:latin typeface="Overpass"/>
              <a:ea typeface="Overpass"/>
              <a:cs typeface="Overpass"/>
              <a:sym typeface="Overpass"/>
            </a:endParaRPr>
          </a:p>
        </p:txBody>
      </p:sp>
      <p:sp>
        <p:nvSpPr>
          <p:cNvPr id="14" name="TextBox 14"/>
          <p:cNvSpPr txBox="1"/>
          <p:nvPr/>
        </p:nvSpPr>
        <p:spPr>
          <a:xfrm>
            <a:off x="7748176" y="7456019"/>
            <a:ext cx="9671692" cy="2142397"/>
          </a:xfrm>
          <a:prstGeom prst="rect">
            <a:avLst/>
          </a:prstGeom>
        </p:spPr>
        <p:txBody>
          <a:bodyPr lIns="0" tIns="0" rIns="0" bIns="0" rtlCol="0" anchor="t">
            <a:spAutoFit/>
          </a:bodyPr>
          <a:lstStyle/>
          <a:p>
            <a:pPr algn="l">
              <a:lnSpc>
                <a:spcPts val="2787"/>
              </a:lnSpc>
            </a:pPr>
            <a:r>
              <a:rPr lang="en-US" sz="2144" spc="-32">
                <a:solidFill>
                  <a:srgbClr val="1A1B18"/>
                </a:solidFill>
                <a:latin typeface="Overpass"/>
                <a:ea typeface="Overpass"/>
                <a:cs typeface="Overpass"/>
                <a:sym typeface="Overpass"/>
              </a:rPr>
              <a:t>Key Observations</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Supervised models performed better than anomaly detection models</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Random Forest achieved the best balance of precision and recall</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Anomaly detection models showed higher false positives</a:t>
            </a:r>
          </a:p>
          <a:p>
            <a:pPr marL="463020" lvl="1" indent="-231510" algn="l">
              <a:lnSpc>
                <a:spcPts val="2787"/>
              </a:lnSpc>
              <a:buFont typeface="Arial"/>
              <a:buChar char="•"/>
            </a:pPr>
            <a:r>
              <a:rPr lang="en-US" sz="2144" spc="-32">
                <a:solidFill>
                  <a:srgbClr val="1A1B18"/>
                </a:solidFill>
                <a:latin typeface="Overpass"/>
                <a:ea typeface="Overpass"/>
                <a:cs typeface="Overpass"/>
                <a:sym typeface="Overpass"/>
              </a:rPr>
              <a:t>Precision-Recall curve confirmed better performance of Random Forest</a:t>
            </a:r>
          </a:p>
          <a:p>
            <a:pPr algn="l">
              <a:lnSpc>
                <a:spcPts val="2787"/>
              </a:lnSpc>
            </a:pPr>
            <a:endParaRPr lang="en-US" sz="2144" spc="-32">
              <a:solidFill>
                <a:srgbClr val="1A1B18"/>
              </a:solidFill>
              <a:latin typeface="Overpass"/>
              <a:ea typeface="Overpass"/>
              <a:cs typeface="Overpass"/>
              <a:sym typeface="Overpas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592323" y="1363655"/>
            <a:ext cx="16230600" cy="0"/>
          </a:xfrm>
          <a:prstGeom prst="line">
            <a:avLst/>
          </a:prstGeom>
          <a:ln w="28575" cap="flat">
            <a:solidFill>
              <a:srgbClr val="CDA63C"/>
            </a:solidFill>
            <a:prstDash val="solid"/>
            <a:headEnd type="none" w="sm" len="sm"/>
            <a:tailEnd type="none" w="sm" len="sm"/>
          </a:ln>
        </p:spPr>
      </p:sp>
      <p:sp>
        <p:nvSpPr>
          <p:cNvPr id="10" name="Freeform 10"/>
          <p:cNvSpPr/>
          <p:nvPr/>
        </p:nvSpPr>
        <p:spPr>
          <a:xfrm>
            <a:off x="9853148" y="1696859"/>
            <a:ext cx="6969775" cy="4876750"/>
          </a:xfrm>
          <a:custGeom>
            <a:avLst/>
            <a:gdLst/>
            <a:ahLst/>
            <a:cxnLst/>
            <a:rect l="l" t="t" r="r" b="b"/>
            <a:pathLst>
              <a:path w="6969775" h="4876750">
                <a:moveTo>
                  <a:pt x="0" y="0"/>
                </a:moveTo>
                <a:lnTo>
                  <a:pt x="6969775" y="0"/>
                </a:lnTo>
                <a:lnTo>
                  <a:pt x="6969775" y="4876750"/>
                </a:lnTo>
                <a:lnTo>
                  <a:pt x="0" y="4876750"/>
                </a:lnTo>
                <a:lnTo>
                  <a:pt x="0" y="0"/>
                </a:lnTo>
                <a:close/>
              </a:path>
            </a:pathLst>
          </a:custGeom>
          <a:blipFill>
            <a:blip r:embed="rId2"/>
            <a:stretch>
              <a:fillRect/>
            </a:stretch>
          </a:blipFill>
        </p:spPr>
      </p:sp>
      <p:sp>
        <p:nvSpPr>
          <p:cNvPr id="11" name="Freeform 11"/>
          <p:cNvSpPr/>
          <p:nvPr/>
        </p:nvSpPr>
        <p:spPr>
          <a:xfrm>
            <a:off x="1918108" y="1779036"/>
            <a:ext cx="6025985" cy="4608106"/>
          </a:xfrm>
          <a:custGeom>
            <a:avLst/>
            <a:gdLst/>
            <a:ahLst/>
            <a:cxnLst/>
            <a:rect l="l" t="t" r="r" b="b"/>
            <a:pathLst>
              <a:path w="6025985" h="4608106">
                <a:moveTo>
                  <a:pt x="0" y="0"/>
                </a:moveTo>
                <a:lnTo>
                  <a:pt x="6025985" y="0"/>
                </a:lnTo>
                <a:lnTo>
                  <a:pt x="6025985" y="4608106"/>
                </a:lnTo>
                <a:lnTo>
                  <a:pt x="0" y="4608106"/>
                </a:lnTo>
                <a:lnTo>
                  <a:pt x="0" y="0"/>
                </a:lnTo>
                <a:close/>
              </a:path>
            </a:pathLst>
          </a:custGeom>
          <a:blipFill>
            <a:blip r:embed="rId3"/>
            <a:stretch>
              <a:fillRect/>
            </a:stretch>
          </a:blipFill>
        </p:spPr>
      </p:sp>
      <p:sp>
        <p:nvSpPr>
          <p:cNvPr id="12" name="TextBox 12"/>
          <p:cNvSpPr txBox="1"/>
          <p:nvPr/>
        </p:nvSpPr>
        <p:spPr>
          <a:xfrm>
            <a:off x="551169" y="200055"/>
            <a:ext cx="14785847" cy="1149312"/>
          </a:xfrm>
          <a:prstGeom prst="rect">
            <a:avLst/>
          </a:prstGeom>
        </p:spPr>
        <p:txBody>
          <a:bodyPr lIns="0" tIns="0" rIns="0" bIns="0" rtlCol="0" anchor="t">
            <a:spAutoFit/>
          </a:bodyPr>
          <a:lstStyle/>
          <a:p>
            <a:pPr algn="l">
              <a:lnSpc>
                <a:spcPts val="8800"/>
              </a:lnSpc>
            </a:pPr>
            <a:r>
              <a:rPr lang="en-US" sz="8000" b="1">
                <a:solidFill>
                  <a:srgbClr val="1A1B18"/>
                </a:solidFill>
                <a:latin typeface="Cormorant Garamond Bold"/>
                <a:ea typeface="Cormorant Garamond Bold"/>
                <a:cs typeface="Cormorant Garamond Bold"/>
                <a:sym typeface="Cormorant Garamond Bold"/>
              </a:rPr>
              <a:t>RESULTS AND EVALUATION</a:t>
            </a:r>
          </a:p>
        </p:txBody>
      </p:sp>
      <p:sp>
        <p:nvSpPr>
          <p:cNvPr id="13" name="TextBox 13"/>
          <p:cNvSpPr txBox="1"/>
          <p:nvPr/>
        </p:nvSpPr>
        <p:spPr>
          <a:xfrm>
            <a:off x="3614989" y="7058071"/>
            <a:ext cx="10465737" cy="2728415"/>
          </a:xfrm>
          <a:prstGeom prst="rect">
            <a:avLst/>
          </a:prstGeom>
        </p:spPr>
        <p:txBody>
          <a:bodyPr lIns="0" tIns="0" rIns="0" bIns="0" rtlCol="0" anchor="t">
            <a:spAutoFit/>
          </a:bodyPr>
          <a:lstStyle/>
          <a:p>
            <a:pPr algn="l">
              <a:lnSpc>
                <a:spcPts val="3546"/>
              </a:lnSpc>
            </a:pPr>
            <a:r>
              <a:rPr lang="en-US" sz="2727" spc="-40">
                <a:solidFill>
                  <a:srgbClr val="1A1B18"/>
                </a:solidFill>
                <a:latin typeface="Overpass"/>
                <a:ea typeface="Overpass"/>
                <a:cs typeface="Overpass"/>
                <a:sym typeface="Overpass"/>
              </a:rPr>
              <a:t>Best Result Obtained</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Model: Random Forest (Tuned)</a:t>
            </a:r>
          </a:p>
          <a:p>
            <a:pPr marL="1177947" lvl="2" indent="-392649" algn="l">
              <a:lnSpc>
                <a:spcPts val="3546"/>
              </a:lnSpc>
              <a:buFont typeface="Arial"/>
              <a:buChar char="⚬"/>
            </a:pPr>
            <a:r>
              <a:rPr lang="en-US" sz="2727" spc="-40">
                <a:solidFill>
                  <a:srgbClr val="1A1B18"/>
                </a:solidFill>
                <a:latin typeface="Overpass"/>
                <a:ea typeface="Overpass"/>
                <a:cs typeface="Overpass"/>
                <a:sym typeface="Overpass"/>
              </a:rPr>
              <a:t>Performance:High Recall → Maximum fraud detection</a:t>
            </a:r>
          </a:p>
          <a:p>
            <a:pPr marL="1177947" lvl="2" indent="-392649" algn="l">
              <a:lnSpc>
                <a:spcPts val="3546"/>
              </a:lnSpc>
              <a:buFont typeface="Arial"/>
              <a:buChar char="⚬"/>
            </a:pPr>
            <a:r>
              <a:rPr lang="en-US" sz="2727" spc="-40">
                <a:solidFill>
                  <a:srgbClr val="1A1B18"/>
                </a:solidFill>
                <a:latin typeface="Overpass"/>
                <a:ea typeface="Overpass"/>
                <a:cs typeface="Overpass"/>
                <a:sym typeface="Overpass"/>
              </a:rPr>
              <a:t>Good Precision → Reduced false alarms</a:t>
            </a:r>
          </a:p>
          <a:p>
            <a:pPr marL="588974" lvl="1" indent="-294487" algn="l">
              <a:lnSpc>
                <a:spcPts val="3546"/>
              </a:lnSpc>
              <a:buFont typeface="Arial"/>
              <a:buChar char="•"/>
            </a:pPr>
            <a:r>
              <a:rPr lang="en-US" sz="2727" spc="-40">
                <a:solidFill>
                  <a:srgbClr val="1A1B18"/>
                </a:solidFill>
                <a:latin typeface="Overpass"/>
                <a:ea typeface="Overpass"/>
                <a:cs typeface="Overpass"/>
                <a:sym typeface="Overpass"/>
              </a:rPr>
              <a:t>Conclusion: Best suited for fraud detection in this dataset</a:t>
            </a:r>
          </a:p>
          <a:p>
            <a:pPr algn="l">
              <a:lnSpc>
                <a:spcPts val="3546"/>
              </a:lnSpc>
            </a:pPr>
            <a:endParaRPr lang="en-US" sz="2727" spc="-40">
              <a:solidFill>
                <a:srgbClr val="1A1B18"/>
              </a:solidFill>
              <a:latin typeface="Overpass"/>
              <a:ea typeface="Overpass"/>
              <a:cs typeface="Overpass"/>
              <a:sym typeface="Overpas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592323" y="2674045"/>
            <a:ext cx="16230600" cy="0"/>
          </a:xfrm>
          <a:prstGeom prst="line">
            <a:avLst/>
          </a:prstGeom>
          <a:ln w="28575" cap="flat">
            <a:solidFill>
              <a:srgbClr val="CDA63C"/>
            </a:solidFill>
            <a:prstDash val="solid"/>
            <a:headEnd type="none" w="sm" len="sm"/>
            <a:tailEnd type="none" w="sm" len="sm"/>
          </a:ln>
        </p:spPr>
      </p:sp>
      <p:sp>
        <p:nvSpPr>
          <p:cNvPr id="10" name="TextBox 10"/>
          <p:cNvSpPr txBox="1"/>
          <p:nvPr/>
        </p:nvSpPr>
        <p:spPr>
          <a:xfrm>
            <a:off x="1028700" y="573777"/>
            <a:ext cx="14729939" cy="2114556"/>
          </a:xfrm>
          <a:prstGeom prst="rect">
            <a:avLst/>
          </a:prstGeom>
        </p:spPr>
        <p:txBody>
          <a:bodyPr lIns="0" tIns="0" rIns="0" bIns="0" rtlCol="0" anchor="t">
            <a:spAutoFit/>
          </a:bodyPr>
          <a:lstStyle/>
          <a:p>
            <a:pPr algn="l">
              <a:lnSpc>
                <a:spcPts val="8250"/>
              </a:lnSpc>
            </a:pPr>
            <a:r>
              <a:rPr lang="en-US" sz="7500" b="1">
                <a:solidFill>
                  <a:srgbClr val="1A1B18"/>
                </a:solidFill>
                <a:latin typeface="Cormorant Garamond Bold"/>
                <a:ea typeface="Cormorant Garamond Bold"/>
                <a:cs typeface="Cormorant Garamond Bold"/>
                <a:sym typeface="Cormorant Garamond Bold"/>
              </a:rPr>
              <a:t>COMPARISON &amp; FUTURE IMPROVEMENTS</a:t>
            </a:r>
          </a:p>
        </p:txBody>
      </p:sp>
      <p:sp>
        <p:nvSpPr>
          <p:cNvPr id="11" name="TextBox 11"/>
          <p:cNvSpPr txBox="1"/>
          <p:nvPr/>
        </p:nvSpPr>
        <p:spPr>
          <a:xfrm>
            <a:off x="385786" y="2809783"/>
            <a:ext cx="7749319" cy="6448517"/>
          </a:xfrm>
          <a:prstGeom prst="rect">
            <a:avLst/>
          </a:prstGeom>
        </p:spPr>
        <p:txBody>
          <a:bodyPr lIns="0" tIns="0" rIns="0" bIns="0" rtlCol="0" anchor="t">
            <a:spAutoFit/>
          </a:bodyPr>
          <a:lstStyle/>
          <a:p>
            <a:pPr algn="ctr">
              <a:lnSpc>
                <a:spcPts val="3632"/>
              </a:lnSpc>
            </a:pPr>
            <a:r>
              <a:rPr lang="en-US" sz="2794" b="1" spc="-41">
                <a:solidFill>
                  <a:srgbClr val="1A1B18"/>
                </a:solidFill>
                <a:latin typeface="Overpass Ultra-Bold"/>
                <a:ea typeface="Overpass Ultra-Bold"/>
                <a:cs typeface="Overpass Ultra-Bold"/>
                <a:sym typeface="Overpass Ultra-Bold"/>
              </a:rPr>
              <a:t>Approach in Reference Papers</a:t>
            </a:r>
          </a:p>
          <a:p>
            <a:pPr algn="l">
              <a:lnSpc>
                <a:spcPts val="3632"/>
              </a:lnSpc>
            </a:pPr>
            <a:r>
              <a:rPr lang="en-US" sz="2794" spc="-41">
                <a:solidFill>
                  <a:srgbClr val="1A1B18"/>
                </a:solidFill>
                <a:latin typeface="Overpass"/>
                <a:ea typeface="Overpass"/>
                <a:cs typeface="Overpass"/>
                <a:sym typeface="Overpass"/>
              </a:rPr>
              <a:t>Use Machine Learning &amp; Deep Learning models</a:t>
            </a:r>
          </a:p>
          <a:p>
            <a:pPr algn="l">
              <a:lnSpc>
                <a:spcPts val="3632"/>
              </a:lnSpc>
            </a:pPr>
            <a:r>
              <a:rPr lang="en-US" sz="2794" spc="-41">
                <a:solidFill>
                  <a:srgbClr val="1A1B18"/>
                </a:solidFill>
                <a:latin typeface="Overpass"/>
                <a:ea typeface="Overpass"/>
                <a:cs typeface="Overpass"/>
                <a:sym typeface="Overpass"/>
              </a:rPr>
              <a:t>Focus on:</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Behavioral pattern analysis</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Transaction history modeling</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Address key challenges:</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Class imbalance</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Concept drift</a:t>
            </a:r>
          </a:p>
          <a:p>
            <a:pPr algn="l">
              <a:lnSpc>
                <a:spcPts val="3632"/>
              </a:lnSpc>
            </a:pPr>
            <a:r>
              <a:rPr lang="en-US" sz="2794" spc="-41">
                <a:solidFill>
                  <a:srgbClr val="1A1B18"/>
                </a:solidFill>
                <a:latin typeface="Overpass"/>
                <a:ea typeface="Overpass"/>
                <a:cs typeface="Overpass"/>
                <a:sym typeface="Overpass"/>
              </a:rPr>
              <a:t>Use:</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Advanced models (CNN, LSTM, GAN)</a:t>
            </a:r>
          </a:p>
          <a:p>
            <a:pPr marL="603341" lvl="1" indent="-301670" algn="l">
              <a:lnSpc>
                <a:spcPts val="3632"/>
              </a:lnSpc>
              <a:buFont typeface="Arial"/>
              <a:buChar char="•"/>
            </a:pPr>
            <a:r>
              <a:rPr lang="en-US" sz="2794" spc="-41">
                <a:solidFill>
                  <a:srgbClr val="1A1B18"/>
                </a:solidFill>
                <a:latin typeface="Overpass"/>
                <a:ea typeface="Overpass"/>
                <a:cs typeface="Overpass"/>
                <a:sym typeface="Overpass"/>
              </a:rPr>
              <a:t>Hybrid &amp; ensemble techniques</a:t>
            </a:r>
          </a:p>
          <a:p>
            <a:pPr algn="l">
              <a:lnSpc>
                <a:spcPts val="3632"/>
              </a:lnSpc>
            </a:pPr>
            <a:endParaRPr lang="en-US" sz="2794" spc="-41">
              <a:solidFill>
                <a:srgbClr val="1A1B18"/>
              </a:solidFill>
              <a:latin typeface="Overpass"/>
              <a:ea typeface="Overpass"/>
              <a:cs typeface="Overpass"/>
              <a:sym typeface="Overpass"/>
            </a:endParaRPr>
          </a:p>
          <a:p>
            <a:pPr algn="l">
              <a:lnSpc>
                <a:spcPts val="3632"/>
              </a:lnSpc>
            </a:pPr>
            <a:r>
              <a:rPr lang="en-US" sz="2794" spc="-41">
                <a:solidFill>
                  <a:srgbClr val="1A1B18"/>
                </a:solidFill>
                <a:latin typeface="Overpass"/>
                <a:ea typeface="Overpass"/>
                <a:cs typeface="Overpass"/>
                <a:sym typeface="Overpass"/>
              </a:rPr>
              <a:t>Many studies show deep learning improves precision &amp; recall</a:t>
            </a:r>
          </a:p>
        </p:txBody>
      </p:sp>
      <p:sp>
        <p:nvSpPr>
          <p:cNvPr id="12" name="TextBox 12"/>
          <p:cNvSpPr txBox="1"/>
          <p:nvPr/>
        </p:nvSpPr>
        <p:spPr>
          <a:xfrm>
            <a:off x="8816717" y="2828833"/>
            <a:ext cx="8115300" cy="5097913"/>
          </a:xfrm>
          <a:prstGeom prst="rect">
            <a:avLst/>
          </a:prstGeom>
        </p:spPr>
        <p:txBody>
          <a:bodyPr lIns="0" tIns="0" rIns="0" bIns="0" rtlCol="0" anchor="t">
            <a:spAutoFit/>
          </a:bodyPr>
          <a:lstStyle/>
          <a:p>
            <a:pPr algn="ctr">
              <a:lnSpc>
                <a:spcPts val="3658"/>
              </a:lnSpc>
            </a:pPr>
            <a:r>
              <a:rPr lang="en-US" sz="2814" b="1" spc="-42">
                <a:solidFill>
                  <a:srgbClr val="1A1B18"/>
                </a:solidFill>
                <a:latin typeface="Overpass Ultra-Bold"/>
                <a:ea typeface="Overpass Ultra-Bold"/>
                <a:cs typeface="Overpass Ultra-Bold"/>
                <a:sym typeface="Overpass Ultra-Bold"/>
              </a:rPr>
              <a:t>Our Approach</a:t>
            </a:r>
          </a:p>
          <a:p>
            <a:pPr algn="l">
              <a:lnSpc>
                <a:spcPts val="3658"/>
              </a:lnSpc>
            </a:pPr>
            <a:r>
              <a:rPr lang="en-US" sz="2814" spc="-42">
                <a:solidFill>
                  <a:srgbClr val="1A1B18"/>
                </a:solidFill>
                <a:latin typeface="Overpass"/>
                <a:ea typeface="Overpass"/>
                <a:cs typeface="Overpass"/>
                <a:sym typeface="Overpass"/>
              </a:rPr>
              <a:t>Used traditional ML models:</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Logistic Regression</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Random Forest</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Isolation Forest</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Handled imbalance using:</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SMOTE (primary method)</a:t>
            </a:r>
          </a:p>
          <a:p>
            <a:pPr marL="607635" lvl="1" indent="-303818" algn="l">
              <a:lnSpc>
                <a:spcPts val="3658"/>
              </a:lnSpc>
              <a:buFont typeface="Arial"/>
              <a:buChar char="•"/>
            </a:pPr>
            <a:r>
              <a:rPr lang="en-US" sz="2814" spc="-42">
                <a:solidFill>
                  <a:srgbClr val="1A1B18"/>
                </a:solidFill>
                <a:latin typeface="Overpass"/>
                <a:ea typeface="Overpass"/>
                <a:cs typeface="Overpass"/>
                <a:sym typeface="Overpass"/>
              </a:rPr>
              <a:t>Undersampling</a:t>
            </a:r>
          </a:p>
          <a:p>
            <a:pPr algn="l">
              <a:lnSpc>
                <a:spcPts val="3658"/>
              </a:lnSpc>
            </a:pPr>
            <a:r>
              <a:rPr lang="en-US" sz="2814" spc="-42">
                <a:solidFill>
                  <a:srgbClr val="1A1B18"/>
                </a:solidFill>
                <a:latin typeface="Overpass"/>
                <a:ea typeface="Overpass"/>
                <a:cs typeface="Overpass"/>
                <a:sym typeface="Overpass"/>
              </a:rPr>
              <a:t>Applied:</a:t>
            </a:r>
          </a:p>
          <a:p>
            <a:pPr algn="l">
              <a:lnSpc>
                <a:spcPts val="3658"/>
              </a:lnSpc>
            </a:pPr>
            <a:r>
              <a:rPr lang="en-US" sz="2814" spc="-42">
                <a:solidFill>
                  <a:srgbClr val="1A1B18"/>
                </a:solidFill>
                <a:latin typeface="Overpass"/>
                <a:ea typeface="Overpass"/>
                <a:cs typeface="Overpass"/>
                <a:sym typeface="Overpass"/>
              </a:rPr>
              <a:t>Feature scaling</a:t>
            </a:r>
          </a:p>
          <a:p>
            <a:pPr algn="l">
              <a:lnSpc>
                <a:spcPts val="3658"/>
              </a:lnSpc>
            </a:pPr>
            <a:r>
              <a:rPr lang="en-US" sz="2814" spc="-42">
                <a:solidFill>
                  <a:srgbClr val="1A1B18"/>
                </a:solidFill>
                <a:latin typeface="Overpass"/>
                <a:ea typeface="Overpass"/>
                <a:cs typeface="Overpass"/>
                <a:sym typeface="Overpass"/>
              </a:rPr>
              <a:t>Model evaluation (Precision, Recall, F1-score)</a:t>
            </a:r>
          </a:p>
        </p:txBody>
      </p:sp>
      <p:sp>
        <p:nvSpPr>
          <p:cNvPr id="13" name="TextBox 13"/>
          <p:cNvSpPr txBox="1"/>
          <p:nvPr/>
        </p:nvSpPr>
        <p:spPr>
          <a:xfrm>
            <a:off x="8135105" y="8419769"/>
            <a:ext cx="8115300" cy="1098487"/>
          </a:xfrm>
          <a:prstGeom prst="rect">
            <a:avLst/>
          </a:prstGeom>
        </p:spPr>
        <p:txBody>
          <a:bodyPr lIns="0" tIns="0" rIns="0" bIns="0" rtlCol="0" anchor="t">
            <a:spAutoFit/>
          </a:bodyPr>
          <a:lstStyle/>
          <a:p>
            <a:pPr algn="l">
              <a:lnSpc>
                <a:spcPts val="2749"/>
              </a:lnSpc>
            </a:pPr>
            <a:r>
              <a:rPr lang="en-US" sz="2499">
                <a:solidFill>
                  <a:srgbClr val="1A1B18"/>
                </a:solidFill>
                <a:latin typeface="Overpass"/>
                <a:ea typeface="Overpass"/>
                <a:cs typeface="Overpass"/>
                <a:sym typeface="Overpass"/>
              </a:rPr>
              <a:t>F</a:t>
            </a:r>
            <a:r>
              <a:rPr lang="en-US" sz="2499" b="1">
                <a:solidFill>
                  <a:srgbClr val="1A1B18"/>
                </a:solidFill>
                <a:latin typeface="Overpass Ultra-Bold"/>
                <a:ea typeface="Overpass Ultra-Bold"/>
                <a:cs typeface="Overpass Ultra-Bold"/>
                <a:sym typeface="Overpass Ultra-Bold"/>
              </a:rPr>
              <a:t>uture Improvements:</a:t>
            </a:r>
          </a:p>
          <a:p>
            <a:pPr marL="539749" lvl="1" indent="-269875" algn="l">
              <a:lnSpc>
                <a:spcPts val="2749"/>
              </a:lnSpc>
              <a:buFont typeface="Arial"/>
              <a:buChar char="•"/>
            </a:pPr>
            <a:r>
              <a:rPr lang="en-US" sz="2499">
                <a:solidFill>
                  <a:srgbClr val="1A1B18"/>
                </a:solidFill>
                <a:latin typeface="Overpass"/>
                <a:ea typeface="Overpass"/>
                <a:cs typeface="Overpass"/>
                <a:sym typeface="Overpass"/>
              </a:rPr>
              <a:t>Real-time fraud detection system</a:t>
            </a:r>
          </a:p>
          <a:p>
            <a:pPr marL="539749" lvl="1" indent="-269875" algn="l">
              <a:lnSpc>
                <a:spcPts val="2749"/>
              </a:lnSpc>
              <a:buFont typeface="Arial"/>
              <a:buChar char="•"/>
            </a:pPr>
            <a:r>
              <a:rPr lang="en-US" sz="2499">
                <a:solidFill>
                  <a:srgbClr val="1A1B18"/>
                </a:solidFill>
                <a:latin typeface="Overpass"/>
                <a:ea typeface="Overpass"/>
                <a:cs typeface="Overpass"/>
                <a:sym typeface="Overpass"/>
              </a:rPr>
              <a:t>Deep learning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6454275" y="1110022"/>
            <a:ext cx="955485" cy="218188"/>
            <a:chOff x="0" y="0"/>
            <a:chExt cx="1273980" cy="290918"/>
          </a:xfrm>
        </p:grpSpPr>
        <p:grpSp>
          <p:nvGrpSpPr>
            <p:cNvPr id="3" name="Group 3"/>
            <p:cNvGrpSpPr>
              <a:grpSpLocks noChangeAspect="1"/>
            </p:cNvGrpSpPr>
            <p:nvPr/>
          </p:nvGrpSpPr>
          <p:grpSpPr>
            <a:xfrm>
              <a:off x="983062" y="0"/>
              <a:ext cx="290918" cy="290918"/>
              <a:chOff x="0" y="0"/>
              <a:chExt cx="1708150" cy="1708150"/>
            </a:xfrm>
          </p:grpSpPr>
          <p:sp>
            <p:nvSpPr>
              <p:cNvPr id="4" name="Freeform 4"/>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5" name="Group 5"/>
            <p:cNvGrpSpPr>
              <a:grpSpLocks noChangeAspect="1"/>
            </p:cNvGrpSpPr>
            <p:nvPr/>
          </p:nvGrpSpPr>
          <p:grpSpPr>
            <a:xfrm>
              <a:off x="489944" y="0"/>
              <a:ext cx="290918" cy="290918"/>
              <a:chOff x="0" y="0"/>
              <a:chExt cx="1708150" cy="1708150"/>
            </a:xfrm>
          </p:grpSpPr>
          <p:sp>
            <p:nvSpPr>
              <p:cNvPr id="6" name="Freeform 6"/>
              <p:cNvSpPr/>
              <p:nvPr/>
            </p:nvSpPr>
            <p:spPr>
              <a:xfrm>
                <a:off x="0" y="0"/>
                <a:ext cx="1706883" cy="1708150"/>
              </a:xfrm>
              <a:custGeom>
                <a:avLst/>
                <a:gdLst/>
                <a:ahLst/>
                <a:cxnLst/>
                <a:rect l="l" t="t" r="r" b="b"/>
                <a:pathLst>
                  <a:path w="1706883"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A1B18"/>
              </a:solidFill>
            </p:spPr>
          </p:sp>
        </p:grpSp>
        <p:grpSp>
          <p:nvGrpSpPr>
            <p:cNvPr id="7" name="Group 7"/>
            <p:cNvGrpSpPr/>
            <p:nvPr/>
          </p:nvGrpSpPr>
          <p:grpSpPr>
            <a:xfrm>
              <a:off x="0" y="1587"/>
              <a:ext cx="287744" cy="287744"/>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DA63C"/>
              </a:solidFill>
            </p:spPr>
          </p:sp>
        </p:grpSp>
      </p:grpSp>
      <p:sp>
        <p:nvSpPr>
          <p:cNvPr id="9" name="AutoShape 9"/>
          <p:cNvSpPr/>
          <p:nvPr/>
        </p:nvSpPr>
        <p:spPr>
          <a:xfrm>
            <a:off x="810512" y="1954943"/>
            <a:ext cx="16230600" cy="0"/>
          </a:xfrm>
          <a:prstGeom prst="line">
            <a:avLst/>
          </a:prstGeom>
          <a:ln w="28575" cap="flat">
            <a:solidFill>
              <a:srgbClr val="CDA63C"/>
            </a:solidFill>
            <a:prstDash val="solid"/>
            <a:headEnd type="none" w="sm" len="sm"/>
            <a:tailEnd type="none" w="sm" len="sm"/>
          </a:ln>
        </p:spPr>
      </p:sp>
      <p:sp>
        <p:nvSpPr>
          <p:cNvPr id="10" name="TextBox 10"/>
          <p:cNvSpPr txBox="1"/>
          <p:nvPr/>
        </p:nvSpPr>
        <p:spPr>
          <a:xfrm>
            <a:off x="1028700" y="573777"/>
            <a:ext cx="14785847" cy="984208"/>
          </a:xfrm>
          <a:prstGeom prst="rect">
            <a:avLst/>
          </a:prstGeom>
        </p:spPr>
        <p:txBody>
          <a:bodyPr lIns="0" tIns="0" rIns="0" bIns="0" rtlCol="0" anchor="t">
            <a:spAutoFit/>
          </a:bodyPr>
          <a:lstStyle/>
          <a:p>
            <a:pPr algn="l">
              <a:lnSpc>
                <a:spcPts val="7699"/>
              </a:lnSpc>
            </a:pPr>
            <a:r>
              <a:rPr lang="en-US" sz="6999" b="1">
                <a:solidFill>
                  <a:srgbClr val="1A1B18"/>
                </a:solidFill>
                <a:latin typeface="Cormorant Garamond Bold"/>
                <a:ea typeface="Cormorant Garamond Bold"/>
                <a:cs typeface="Cormorant Garamond Bold"/>
                <a:sym typeface="Cormorant Garamond Bold"/>
              </a:rPr>
              <a:t>CONCLUSION &amp; KEY FINDINGS</a:t>
            </a:r>
          </a:p>
        </p:txBody>
      </p:sp>
      <p:sp>
        <p:nvSpPr>
          <p:cNvPr id="11" name="TextBox 11"/>
          <p:cNvSpPr txBox="1"/>
          <p:nvPr/>
        </p:nvSpPr>
        <p:spPr>
          <a:xfrm>
            <a:off x="937455" y="2100981"/>
            <a:ext cx="14439856" cy="7745108"/>
          </a:xfrm>
          <a:prstGeom prst="rect">
            <a:avLst/>
          </a:prstGeom>
        </p:spPr>
        <p:txBody>
          <a:bodyPr lIns="0" tIns="0" rIns="0" bIns="0" rtlCol="0" anchor="t">
            <a:spAutoFit/>
          </a:bodyPr>
          <a:lstStyle/>
          <a:p>
            <a:pPr algn="l">
              <a:lnSpc>
                <a:spcPts val="4688"/>
              </a:lnSpc>
            </a:pPr>
            <a:r>
              <a:rPr lang="en-US" sz="3606" spc="-54">
                <a:solidFill>
                  <a:srgbClr val="1A1B18"/>
                </a:solidFill>
                <a:latin typeface="Overpass"/>
                <a:ea typeface="Overpass"/>
                <a:cs typeface="Overpass"/>
                <a:sym typeface="Overpass"/>
              </a:rPr>
              <a:t> </a:t>
            </a:r>
            <a:r>
              <a:rPr lang="en-US" sz="3606" b="1" spc="-54">
                <a:solidFill>
                  <a:srgbClr val="1A1B18"/>
                </a:solidFill>
                <a:latin typeface="Overpass Ultra-Bold"/>
                <a:ea typeface="Overpass Ultra-Bold"/>
                <a:cs typeface="Overpass Ultra-Bold"/>
                <a:sym typeface="Overpass Ultra-Bold"/>
              </a:rPr>
              <a:t>Best Model</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Random Forest achieved highest performance</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Recall improved to ~89% after tuning</a:t>
            </a:r>
          </a:p>
          <a:p>
            <a:pPr algn="l">
              <a:lnSpc>
                <a:spcPts val="4688"/>
              </a:lnSpc>
            </a:pPr>
            <a:r>
              <a:rPr lang="en-US" sz="3606" b="1" spc="-54">
                <a:solidFill>
                  <a:srgbClr val="1A1B18"/>
                </a:solidFill>
                <a:latin typeface="Overpass Ultra-Bold"/>
                <a:ea typeface="Overpass Ultra-Bold"/>
                <a:cs typeface="Overpass Ultra-Bold"/>
                <a:sym typeface="Overpass Ultra-Bold"/>
              </a:rPr>
              <a:t>Key Findings</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Handling imbalanced data (SMOTE) improved detection</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Threshold tuning increased fraud detection capability</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Clear precision–recall trade-off observed</a:t>
            </a:r>
          </a:p>
          <a:p>
            <a:pPr algn="l">
              <a:lnSpc>
                <a:spcPts val="4688"/>
              </a:lnSpc>
            </a:pPr>
            <a:r>
              <a:rPr lang="en-US" sz="3606" b="1" spc="-54">
                <a:solidFill>
                  <a:srgbClr val="1A1B18"/>
                </a:solidFill>
                <a:latin typeface="Overpass Ultra-Bold"/>
                <a:ea typeface="Overpass Ultra-Bold"/>
                <a:cs typeface="Overpass Ultra-Bold"/>
                <a:sym typeface="Overpass Ultra-Bold"/>
              </a:rPr>
              <a:t>Model Comparison</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Supervised models &gt; Anomaly detection</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Isolation Forest &amp; LOF showed poor fraud detection</a:t>
            </a:r>
          </a:p>
          <a:p>
            <a:pPr algn="l">
              <a:lnSpc>
                <a:spcPts val="4688"/>
              </a:lnSpc>
            </a:pPr>
            <a:r>
              <a:rPr lang="en-US" sz="3606" b="1" spc="-54">
                <a:solidFill>
                  <a:srgbClr val="1A1B18"/>
                </a:solidFill>
                <a:latin typeface="Overpass Ultra-Bold"/>
                <a:ea typeface="Overpass Ultra-Bold"/>
                <a:cs typeface="Overpass Ultra-Bold"/>
                <a:sym typeface="Overpass Ultra-Bold"/>
              </a:rPr>
              <a:t>Final Takeaway</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Recall is the most important metric in fraud detection</a:t>
            </a:r>
          </a:p>
          <a:p>
            <a:pPr marL="778579" lvl="1" indent="-389290" algn="l">
              <a:lnSpc>
                <a:spcPts val="4688"/>
              </a:lnSpc>
              <a:buFont typeface="Arial"/>
              <a:buChar char="•"/>
            </a:pPr>
            <a:r>
              <a:rPr lang="en-US" sz="3606" spc="-54">
                <a:solidFill>
                  <a:srgbClr val="1A1B18"/>
                </a:solidFill>
                <a:latin typeface="Overpass"/>
                <a:ea typeface="Overpass"/>
                <a:cs typeface="Overpass"/>
                <a:sym typeface="Overpass"/>
              </a:rPr>
              <a:t>ML can effectively reduce financial fraud risk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7E0"/>
        </a:solidFill>
        <a:effectLst/>
      </p:bgPr>
    </p:bg>
    <p:spTree>
      <p:nvGrpSpPr>
        <p:cNvPr id="1" name=""/>
        <p:cNvGrpSpPr/>
        <p:nvPr/>
      </p:nvGrpSpPr>
      <p:grpSpPr>
        <a:xfrm>
          <a:off x="0" y="0"/>
          <a:ext cx="0" cy="0"/>
          <a:chOff x="0" y="0"/>
          <a:chExt cx="0" cy="0"/>
        </a:xfrm>
      </p:grpSpPr>
      <p:sp>
        <p:nvSpPr>
          <p:cNvPr id="2" name="TextBox 2"/>
          <p:cNvSpPr txBox="1"/>
          <p:nvPr/>
        </p:nvSpPr>
        <p:spPr>
          <a:xfrm>
            <a:off x="1880352" y="3633161"/>
            <a:ext cx="14527296" cy="3106403"/>
          </a:xfrm>
          <a:prstGeom prst="rect">
            <a:avLst/>
          </a:prstGeom>
        </p:spPr>
        <p:txBody>
          <a:bodyPr lIns="0" tIns="0" rIns="0" bIns="0" rtlCol="0" anchor="t">
            <a:spAutoFit/>
          </a:bodyPr>
          <a:lstStyle/>
          <a:p>
            <a:pPr algn="ctr">
              <a:lnSpc>
                <a:spcPts val="9460"/>
              </a:lnSpc>
            </a:pPr>
            <a:r>
              <a:rPr lang="en-US" sz="8600" b="1">
                <a:solidFill>
                  <a:srgbClr val="000000"/>
                </a:solidFill>
                <a:latin typeface="Cormorant Garamond Bold"/>
                <a:ea typeface="Cormorant Garamond Bold"/>
                <a:cs typeface="Cormorant Garamond Bold"/>
                <a:sym typeface="Cormorant Garamond Bold"/>
              </a:rPr>
              <a:t>THANK YOU</a:t>
            </a:r>
          </a:p>
          <a:p>
            <a:pPr algn="ctr">
              <a:lnSpc>
                <a:spcPts val="9460"/>
              </a:lnSpc>
            </a:pPr>
            <a:endParaRPr lang="en-US" sz="8600" b="1">
              <a:solidFill>
                <a:srgbClr val="000000"/>
              </a:solidFill>
              <a:latin typeface="Cormorant Garamond Bold"/>
              <a:ea typeface="Cormorant Garamond Bold"/>
              <a:cs typeface="Cormorant Garamond Bold"/>
              <a:sym typeface="Cormorant Garamond Bold"/>
            </a:endParaRPr>
          </a:p>
          <a:p>
            <a:pPr algn="ctr">
              <a:lnSpc>
                <a:spcPts val="5610"/>
              </a:lnSpc>
              <a:spcBef>
                <a:spcPct val="0"/>
              </a:spcBef>
            </a:pPr>
            <a:r>
              <a:rPr lang="en-US" sz="5100" b="1" u="sng">
                <a:solidFill>
                  <a:srgbClr val="000000"/>
                </a:solidFill>
                <a:latin typeface="Cormorant Garamond Bold"/>
                <a:ea typeface="Cormorant Garamond Bold"/>
                <a:cs typeface="Cormorant Garamond Bold"/>
                <a:sym typeface="Cormorant Garamond Bold"/>
                <a:hlinkClick r:id="rId2" tooltip="https://github.com/Hetvi4321/Financial-Fraud-Detection"/>
              </a:rPr>
              <a:t>https://github.com/Hetvi4321/Financial-Fraud-Detection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Financial_fraud_detection</dc:title>
  <cp:lastModifiedBy>srilathasrinivasarao5@outlook.com</cp:lastModifiedBy>
  <cp:revision>2</cp:revision>
  <dcterms:created xsi:type="dcterms:W3CDTF">2006-08-16T00:00:00Z</dcterms:created>
  <dcterms:modified xsi:type="dcterms:W3CDTF">2026-04-20T11:53:52Z</dcterms:modified>
  <dc:identifier>DAHHXUv2SCE</dc:identifier>
</cp:coreProperties>
</file>